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86" r:id="rId3"/>
    <p:sldId id="257" r:id="rId4"/>
    <p:sldId id="261" r:id="rId5"/>
    <p:sldId id="258" r:id="rId6"/>
    <p:sldId id="259" r:id="rId7"/>
    <p:sldId id="260" r:id="rId8"/>
    <p:sldId id="287" r:id="rId9"/>
    <p:sldId id="266" r:id="rId10"/>
    <p:sldId id="267" r:id="rId11"/>
    <p:sldId id="268" r:id="rId12"/>
    <p:sldId id="269" r:id="rId13"/>
    <p:sldId id="270" r:id="rId14"/>
    <p:sldId id="262" r:id="rId15"/>
    <p:sldId id="271" r:id="rId16"/>
    <p:sldId id="272" r:id="rId17"/>
    <p:sldId id="264" r:id="rId18"/>
    <p:sldId id="276" r:id="rId19"/>
    <p:sldId id="290" r:id="rId20"/>
    <p:sldId id="291" r:id="rId21"/>
    <p:sldId id="277" r:id="rId22"/>
    <p:sldId id="293" r:id="rId23"/>
    <p:sldId id="292" r:id="rId24"/>
    <p:sldId id="278" r:id="rId25"/>
    <p:sldId id="294" r:id="rId26"/>
    <p:sldId id="295" r:id="rId27"/>
    <p:sldId id="279" r:id="rId28"/>
    <p:sldId id="296" r:id="rId29"/>
    <p:sldId id="297" r:id="rId30"/>
    <p:sldId id="280" r:id="rId31"/>
    <p:sldId id="298" r:id="rId32"/>
    <p:sldId id="299" r:id="rId33"/>
    <p:sldId id="288" r:id="rId34"/>
    <p:sldId id="300" r:id="rId35"/>
    <p:sldId id="289" r:id="rId36"/>
    <p:sldId id="301" r:id="rId37"/>
    <p:sldId id="281" r:id="rId38"/>
    <p:sldId id="283" r:id="rId39"/>
    <p:sldId id="284" r:id="rId40"/>
    <p:sldId id="285" r:id="rId41"/>
    <p:sldId id="275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6327"/>
  </p:normalViewPr>
  <p:slideViewPr>
    <p:cSldViewPr snapToGrid="0">
      <p:cViewPr varScale="1">
        <p:scale>
          <a:sx n="82" d="100"/>
          <a:sy n="82" d="100"/>
        </p:scale>
        <p:origin x="19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C14-5FB3-4C0D-BA96-5D11D31E938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55800-F0F1-4F77-98B7-AB3361AE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5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18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AC08-8AF6-7EFA-8A21-985BB3C1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9F3437-5746-AC0F-7473-A4B344249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6C1C5D-139D-4104-759C-690D00566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EA41B-D7F7-1825-7BCB-9C938855C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19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C986-833B-B869-9784-135E225B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CEBC7-F04C-A8FA-0111-1BBA56412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163E6F-8717-F619-EAB4-13CD4328B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91AA3-2D16-AD68-DC40-87EE648F9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03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4EDB-5F7E-B04D-3303-81F457D9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5E589C-F385-2411-FF10-1AAFBEF84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E555A3-E792-360F-6DB5-B3FAF56DB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617B2-5995-9A0B-0352-BB443F793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737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D68D-2149-CD56-FA8B-8FF0EB3D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93C77E-B284-18B4-BB12-B4489787C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B7A988-B2AF-B231-1E5F-BA17018D7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3F0DD-8DEF-1C2B-17DD-29C08F8C2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4ED0B-14C4-A918-288B-2DFD5E1A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F5A84-8E14-1D04-96CD-AD73A4991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3B921-CD73-7BA7-1A3E-B1E767C3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304EB-0341-0988-3DD3-E3E4879D2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46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1923-70DA-1801-9B40-24028998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4BD12F-B153-8823-5147-2075927F2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DFFE5-C53A-4E3D-47BA-B742B131C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5FDE6-E4E3-ACF4-D333-233623E64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23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8F7E-27F6-C193-498A-C59368587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E3F105-4CB9-FC69-DA66-1EAC6124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800C6D-65D0-1092-7652-32DB982DE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FD083-9D63-36D3-8E74-EB9975E8E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43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BB3D-A7D1-5043-1669-8EB045EB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E0C01-2080-08F7-9D0E-898025774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207CDB-2109-AEFE-551B-48464B6FC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835E1-DBC2-2A98-F2DE-54AEDDA81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818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FDFF-49FF-1DE3-43F3-FB8037EF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6CD286-C4BF-7818-7C11-BF598C95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44CCF-63CE-9091-E543-EB9005292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F9AFB-2984-8732-2310-5982CE220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025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24A1-8359-39FF-C7CE-5ABD64B3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88157F-56DE-2ABF-255E-2E4349D8F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B05438-F548-B700-675B-82E0B36E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28114-AA96-D410-0AED-534828CF6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518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E22B-F198-829B-E416-E0D52881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B5F171-CCD3-F9A3-562A-2031EB956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039A48-CA3C-339C-563D-2C8F254D3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20143-8E20-8E4D-89EE-190918133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298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CD27-3696-8B68-6FB4-C32F1413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E78631-B4A9-F0BB-4246-3E66CBDC3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38612B-23C8-E397-70E4-067B18EFD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C4C0A-9D50-840F-C7CF-C81D720D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865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918D-AE03-B25C-A639-CCC6762D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B9B98-71B9-DD57-A6CD-88BD0647F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DEA1AA-0C09-501D-E7C4-B7C1D21E8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C9E3F1-6751-3FD8-0F07-884102858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729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2139-FA49-1CF2-7CD7-421CAF6C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59FE03-B035-5AF7-B254-A27A405D4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B91620-55E1-9C79-CC67-5715E7E29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379EA0-0E3C-2BE5-7870-0A0129E87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048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E68C-F26F-5A08-D776-03A973FB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987305-9CF5-D086-8367-F837892B0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0BB517-F0E4-45A3-22E3-C5DA2C53C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6BBB5-81FD-9E88-2480-EDD7005F5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55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F799-A8D0-DD1C-7E2A-0E6601A6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899D23-15B7-A09C-1BE8-A86F4E902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C3B1D-622C-D5BA-49F4-BC7B1584D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E4C795-A4D0-FA7B-DCDF-8304033F2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146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0241-E455-CD4A-7B2A-F6B8275C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CE82C2-3BA2-E636-0E96-EF8EF88FA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EB9CC5-2F5B-986D-DBD7-911A6EB38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E981-57FB-D37C-60B3-1F70733E0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064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01E2-253E-9F08-4777-58792FDC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E64754-4BD7-F585-20E9-30F7D1666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72282-2C86-E5F9-118B-7D3BC68CD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697AB8-5AF4-E9C1-CF5B-D0FD4B5A6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365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48F7-1EA6-703E-5602-B2BFBBE2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26D0C6-7518-BEBA-4D68-9F71103AC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A7F7BF-C2EE-16E4-C4CB-536CEAD61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3A232E-D63E-14A4-64F8-4342CE883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565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113D-4890-F659-7AB1-6549AF7B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E5C701-F830-BCFF-D783-306925727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12DDDA-325F-8042-1C07-3E5E30A48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B485A-B934-F123-A4A9-BCEF8BF40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334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81E3F-BC32-0622-D796-1864FA26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E3AC0F-1E4E-A56B-074A-E38D206BF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DFE60F-6AA5-50FA-555F-54142AED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7CFFE-1F7C-366D-0A54-9F8D714FD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023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C442-52C8-A3F4-8833-D6330E38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1608BB-42D2-A403-8E40-F982BA38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7A1962-6976-114E-2AB9-031F95717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BA9C4-8916-D99D-31C6-9BEDC11FA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3108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531B0-56D7-1B32-E7F8-CFC0DC6C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1FD889-28AE-2BFC-D21C-4AA24A4B2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1BC661-2310-600A-081C-14729C1B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6DB76-712A-16AB-0D01-43618B7D7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317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8886-E415-6437-DCE7-2B04069A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11610E-0A41-D66C-DDC5-2681B667B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BAD41-D08B-E45B-E32E-9CB96B1A2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1365F-6D4C-1AFD-02B4-C60887FD7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43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DD38-5574-34F6-E7B5-0C74A441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B22072-76BC-B9C5-6468-5956C8577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C3874-96CD-2597-5182-F8BD4AB19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B75EC-05F9-88EF-6DE8-EE2E16391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984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A82B-ABF0-C2EB-C22A-49998CBF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C9D035-A22A-2EB7-C006-D9BEB5E08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A13140-D317-4A46-46BD-80C19DE62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B2235-2756-0F51-C52E-83C3C9B3E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854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60E2-FCFE-DBDF-6F66-13A11D03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C84B76-2775-F787-F340-3B7371C2B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B133D9-5FB9-86C9-87E4-2A98E8286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4885F9-F79D-3E8F-C049-B15D48B26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35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5FB4-F6AB-02E5-9365-747C0525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902A54-837B-3C2C-22B5-47FDC330E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26015-9C1A-14CB-FADB-C3918CEBE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46A13-9F24-29D3-AB42-773E86264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01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E35F-033F-0EE7-3B31-F6F97E27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66F58C-F7B3-58AF-5D36-2A5A252AD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30B9B1-079F-1E87-DE06-E166FDE7C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4D73A-369F-32A1-0599-46201117F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165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C38C-9639-0584-0B24-1969EC04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63DB91-5CB6-49F7-C113-CFD3460A2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DDDC00-09F6-46A6-6538-79D339D7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7293D-71DF-CDFE-5A23-15190D220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908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F9DE-F655-3855-BB89-43B135D6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B9A5B9-7867-9FB7-6781-49EEF47C0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14F121-A0B1-5C62-E88E-82EB441F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0476A-B593-9A4B-0803-714F98AF5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121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D9BDA-5339-624A-6837-693A0F75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A173E-6AD3-DDE9-B8E5-6B6B4180C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467189-8CE6-3D38-7B39-76FC0AC4D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35435-749B-6F66-167E-A35B8610D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9998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AB85-A556-259B-5935-8E83768D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B241BB-BE40-0CDF-137C-F6DE945FA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B65A81-9A3A-19EE-A350-6B6E91EB8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320CF-89EC-6109-22C1-F66E2D183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55800-F0F1-4F77-98B7-AB3361AE778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1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77AA1-AA9B-BB91-150D-EBB9BC74F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6D74E1-74A6-9F00-ED2C-E731C1C6F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C6746D-E496-0511-B7A1-D58C3DED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EE21F-C8B4-FE16-9BE7-C4ACE70B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729A3-6BE5-F408-7A30-AF6483BB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52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FCB28-5D8C-8AA2-1E87-6E54979D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66758-54F4-A4E0-E878-24AA5A796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00949-52F8-F5D2-1C1C-42B797C8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7E99B-0BE3-2ABC-7E5A-77D5FEF9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FD8CD-5393-D03D-DA19-7163BD34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28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AAC59-54E5-74FF-96E0-9B2A27AC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D7FC78-0F8E-1746-2624-BD500A776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F58C9-F460-2308-7BC5-4E2FA983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BCBE36-7885-CBE2-2039-40D4B65D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C1DBA-53E7-37BE-F55E-265FF2F0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3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948B0-8652-B05E-6DF4-EA635784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43334-D0CE-85B8-3B1B-5B4B54D6C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9507AE-656B-7A0F-BC91-7B284D8F3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A242E8-75CD-FC08-8D6B-D3A52480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79B539-1A3D-2098-64FB-8E9B16AE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C89843-AB0B-CC54-7E66-09B3448E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F6017-7C00-1332-4CBB-7B03E0E3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DB395-BEA3-10B3-F713-557E51115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FCB7A9-48B0-E6F6-F690-60D0C60D6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060735-52F7-7ED3-4E3C-66B17809F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344FCD-BC6D-FA29-EA3A-D3D01BD83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C9491E-C980-A62C-BA4B-7C19DCC4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E0E1A7-4DF9-E527-C87D-8C8622D8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1AFA2D-A71C-BB88-BF4E-A0B17E30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95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0EB38-B359-2C8C-FD20-03FE14F4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44FE51-105D-A155-CCF7-4E7AC05D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2246F4-9D85-E270-848B-0B9622B9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98FBB-EDCC-F8DB-090D-5E249DA9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31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51AFB3-3160-55AC-F892-17534565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B6AD22-2C52-5D72-1DAA-4D9ED0FC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19BD61-7FCA-EA5D-89CC-5D85CBB47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87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24F34-5839-A656-AE49-C658B2D6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1D5527-AFDB-357F-43B0-DDD3D4492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2B6B98-69DD-094C-DB78-721E95665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0AD0A8-D82E-C1D7-C7CC-D88B6A6B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6A3E8-BC6F-FA6C-682E-26D28214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31A0C9-8B4D-503C-0298-8144D9EC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70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A103-65A7-76DA-2E60-5F7031D4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70CCF0-612F-1D5C-30E3-B50684B49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C6116F-17D3-7386-636A-4FE141D1A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3E92B3-6D47-EFEC-CC0E-02F37C54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687B2-59E7-3B7A-14CB-8966B859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6DF312-05FC-8425-C0FB-3804A23B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4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6D0D8-BE0F-B3B6-D4E6-3DD7312D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F87F9-9768-216A-0E63-0E1B49932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E70FF4-3C58-E63D-881C-FCB69A7D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4F65D-56CB-D1C7-B9AC-75E8E92D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2E665-3E4D-AF5A-A445-20A5B50A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36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BC0608-B289-F161-6895-94E4405BD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F2CA1E-F61B-257D-3761-E0C961774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182A7-7998-88F9-7B09-AA1226E9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85847D-C84F-C372-A411-7A5FA8F6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696146-BEC1-4433-DF93-630C4581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64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0A81A9-B9FF-45F9-C0B7-510EBE4F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CFA554-7380-9D33-5150-4457769A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D44013-4CE9-CD51-0076-5A1CDE5C1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EE871-ABC2-4400-B8D2-CF2D1895433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E5C80-9F6F-F607-0E08-337DAE3ED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54F001-5A4A-C83D-4577-889C5DE77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76E46-A19F-44F2-A8E5-5BD42929A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1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lpidisca/Reinforcement-Learning-Proj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C99BE5-14C6-82E9-1B14-C9C7FA75D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9132510-9A40-FBBA-4E22-3AD12DC52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1681" y="2152879"/>
            <a:ext cx="9888638" cy="789390"/>
          </a:xfrm>
        </p:spPr>
        <p:txBody>
          <a:bodyPr>
            <a:normAutofit/>
          </a:bodyPr>
          <a:lstStyle/>
          <a:p>
            <a:r>
              <a:rPr lang="ko-KR" altLang="en-US" sz="3800" b="1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강화학습을 통한 초순열의</a:t>
            </a:r>
            <a:r>
              <a:rPr lang="en-US" altLang="ko-KR" sz="3800" b="1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lang="ko-KR" altLang="en-US" sz="3800" b="1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최소 길이 탐색</a:t>
            </a:r>
            <a:endParaRPr lang="ko-KR" altLang="en-US" sz="3800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BAF596-B55A-A928-5836-D758487DF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4263" y="2988568"/>
            <a:ext cx="6763473" cy="3212882"/>
          </a:xfrm>
        </p:spPr>
        <p:txBody>
          <a:bodyPr>
            <a:normAutofit lnSpcReduction="10000"/>
          </a:bodyPr>
          <a:lstStyle/>
          <a:p>
            <a:r>
              <a: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(Shortest Super-permutation as the </a:t>
            </a:r>
            <a:r>
              <a:rPr lang="en-US" altLang="ko-KR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Haruhi</a:t>
            </a:r>
            <a:r>
              <a: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 Problem: A Reinforcement Learning Approach)</a:t>
            </a: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  <a:hlinkClick r:id="rId3"/>
              </a:rPr>
              <a:t>https://github.com/calpidisca/Reinforcement-Learning-Project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120250131 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김범수</a:t>
            </a:r>
            <a:endParaRPr lang="en-US" altLang="ko-KR" sz="1500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120250133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 박성원</a:t>
            </a:r>
            <a:endParaRPr lang="en-US" altLang="ko-KR" sz="1500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서강대학교</a:t>
            </a:r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16AFF9-1CC7-DFA9-DCD5-0B30D409EA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73F2-033E-C05F-41BE-214EE9A1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그림 70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F0DA7C-5C6A-AD7A-CA81-2C6818A7C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B80671-D3DB-60E0-34F3-D094ABDB25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308CC3F-3FBF-2684-9236-60D917E31EFC}"/>
              </a:ext>
            </a:extLst>
          </p:cNvPr>
          <p:cNvGrpSpPr/>
          <p:nvPr/>
        </p:nvGrpSpPr>
        <p:grpSpPr>
          <a:xfrm>
            <a:off x="4310152" y="311460"/>
            <a:ext cx="3434820" cy="734680"/>
            <a:chOff x="2105025" y="704851"/>
            <a:chExt cx="4838697" cy="107632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6012427-1513-7820-2FE3-DDDC43676710}"/>
                </a:ext>
              </a:extLst>
            </p:cNvPr>
            <p:cNvSpPr/>
            <p:nvPr/>
          </p:nvSpPr>
          <p:spPr>
            <a:xfrm>
              <a:off x="2105025" y="704851"/>
              <a:ext cx="4838697" cy="1076325"/>
            </a:xfrm>
            <a:prstGeom prst="rect">
              <a:avLst/>
            </a:prstGeom>
            <a:solidFill>
              <a:srgbClr val="AB1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SOGANG UNIVERSITY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025BA7-904A-790E-9E9E-8A58964428A7}"/>
                </a:ext>
              </a:extLst>
            </p:cNvPr>
            <p:cNvSpPr txBox="1"/>
            <p:nvPr/>
          </p:nvSpPr>
          <p:spPr>
            <a:xfrm>
              <a:off x="2825353" y="858292"/>
              <a:ext cx="3493296" cy="766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latin typeface="Noto Sans KR" panose="020B0200000000000000" pitchFamily="34" charset="-128"/>
                  <a:ea typeface="Noto Sans KR" panose="020B0200000000000000" pitchFamily="34" charset="-128"/>
                </a:rPr>
                <a:t>CONTENTS</a:t>
              </a:r>
              <a:endParaRPr lang="ko-KR" altLang="en-US" sz="2800" b="1" dirty="0">
                <a:solidFill>
                  <a:schemeClr val="bg1"/>
                </a:solidFill>
                <a:latin typeface="Noto Sans KR" panose="020B0200000000000000" pitchFamily="34" charset="-128"/>
                <a:ea typeface="Noto Sans KR" panose="020B0200000000000000" pitchFamily="34" charset="-128"/>
              </a:endParaRPr>
            </a:p>
          </p:txBody>
        </p:sp>
      </p:grpSp>
      <p:cxnSp>
        <p:nvCxnSpPr>
          <p:cNvPr id="50" name="직선 연결선 16">
            <a:extLst>
              <a:ext uri="{FF2B5EF4-FFF2-40B4-BE49-F238E27FC236}">
                <a16:creationId xmlns:a16="http://schemas.microsoft.com/office/drawing/2014/main" id="{2197ECF2-27A8-4F21-F7EC-B7FE0E8F3831}"/>
              </a:ext>
            </a:extLst>
          </p:cNvPr>
          <p:cNvCxnSpPr>
            <a:cxnSpLocks/>
          </p:cNvCxnSpPr>
          <p:nvPr/>
        </p:nvCxnSpPr>
        <p:spPr>
          <a:xfrm>
            <a:off x="4082503" y="2711004"/>
            <a:ext cx="7324937" cy="957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174F95-D36C-107C-A9D3-72F4FE6BA124}"/>
              </a:ext>
            </a:extLst>
          </p:cNvPr>
          <p:cNvSpPr txBox="1"/>
          <p:nvPr/>
        </p:nvSpPr>
        <p:spPr>
          <a:xfrm>
            <a:off x="2487702" y="1363491"/>
            <a:ext cx="3644900" cy="4386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01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프로젝트 주제 및 목표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02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실험 환경</a:t>
            </a:r>
            <a:endParaRPr kumimoji="1" lang="en-US" altLang="ko-KR" sz="14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03	</a:t>
            </a:r>
            <a:r>
              <a:rPr kumimoji="1" lang="ko-KR" altLang="en-US" sz="14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실험 설정 </a:t>
            </a:r>
            <a:endParaRPr kumimoji="1" lang="en-US" altLang="ko-KR" sz="20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04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알고리즘 선택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05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평가지표 정리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2"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FB0F49-4C1A-BE18-A5AE-68C55EC78ADA}"/>
              </a:ext>
            </a:extLst>
          </p:cNvPr>
          <p:cNvSpPr txBox="1"/>
          <p:nvPr/>
        </p:nvSpPr>
        <p:spPr>
          <a:xfrm>
            <a:off x="6388920" y="1363491"/>
            <a:ext cx="4277584" cy="317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06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결과</a:t>
            </a:r>
            <a:endParaRPr kumimoji="1" lang="en-US" altLang="ko-KR" sz="14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1092200" lvl="2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1092200" lvl="2" indent="-1778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07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한계점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08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향후 연구방안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endParaRPr kumimoji="1"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>
              <a:lnSpc>
                <a:spcPct val="130000"/>
              </a:lnSpc>
            </a:pPr>
            <a:r>
              <a:rPr kumimoji="1"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09	</a:t>
            </a:r>
            <a:r>
              <a:rPr kumimoji="1"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결론</a:t>
            </a:r>
            <a:endParaRPr kumimoji="1" lang="en-US" altLang="ko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50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1AFCF2-FC73-B4E5-3973-2F3F0B51C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A09EEF3-43E2-F8BB-47B6-B8C3EEA4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6663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184D7-69D9-790C-7F74-D6F289D6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2" y="1580946"/>
            <a:ext cx="10515600" cy="4662835"/>
          </a:xfrm>
        </p:spPr>
        <p:txBody>
          <a:bodyPr>
            <a:noAutofit/>
          </a:bodyPr>
          <a:lstStyle/>
          <a:p>
            <a:r>
              <a:rPr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초순열이란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길이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만들 수 있는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순열이 연속된 형태로 한 번씩 등장하는 문자열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N=3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경우로 예를 들면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가능한 순열은 다음의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3!(=6)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개이다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({1,2,3}, {1,3,2}, {2,1,3}, {2,3,1}, {3,1,2}, {3,2,1})</a:t>
            </a: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초순열은 이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개가 모두 포함된 하나의 문자열이다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 중 최소는 다음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자리의 수열이다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/>
              <a:t>{123121321}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EBB6B4-723F-79E2-D81B-ED7D6E12C7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9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642578-5D54-8BFB-F42A-6F6BAFF21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15D392F-98FF-7AA1-6C1D-9C6E9AFA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주제 및 목표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481EAF-19BC-999B-1AF3-76C98D42CD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6A7427-1D71-9F06-3667-9FB230E910B9}"/>
                  </a:ext>
                </a:extLst>
              </p:cNvPr>
              <p:cNvSpPr txBox="1"/>
              <p:nvPr/>
            </p:nvSpPr>
            <p:spPr>
              <a:xfrm>
                <a:off x="688164" y="1936376"/>
                <a:ext cx="4745478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초순열은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=1,2,…,5</m:t>
                    </m:r>
                  </m:oMath>
                </a14:m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대해서 알려져 있다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=1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3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9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4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33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5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153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6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≤872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≥6</m:t>
                    </m:r>
                  </m:oMath>
                </a14:m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부터는 정확한 값은 모르며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upper bound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와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lower 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bound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만이 알려져 있다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6A7427-1D71-9F06-3667-9FB230E9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64" y="1936376"/>
                <a:ext cx="4745478" cy="3416320"/>
              </a:xfrm>
              <a:prstGeom prst="rect">
                <a:avLst/>
              </a:prstGeom>
              <a:blipFill>
                <a:blip r:embed="rId4"/>
                <a:stretch>
                  <a:fillRect l="-1157" t="-1071" b="-19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AD9972-7DF9-95E1-F8DE-B6E79B463792}"/>
                  </a:ext>
                </a:extLst>
              </p:cNvPr>
              <p:cNvSpPr txBox="1"/>
              <p:nvPr/>
            </p:nvSpPr>
            <p:spPr>
              <a:xfrm>
                <a:off x="5717628" y="1936376"/>
                <a:ext cx="613703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=5</m:t>
                    </m:r>
                  </m:oMath>
                </a14:m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만 해도 </a:t>
                </a: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120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개의 순열이 생긴다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 </a:t>
                </a:r>
              </a:p>
              <a:p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 순열들을 모두 넣되 가능한 짧은 문자열을 만드는 문제는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조합적으로 </a:t>
                </a:r>
                <a:r>
                  <a:rPr lang="ko-KR" altLang="en-US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매우 빠르게 복잡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해지고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일반적인 </a:t>
                </a:r>
                <a:r>
                  <a:rPr lang="ko-KR" altLang="en-US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최적해는 알려져 있지 않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고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관련 논문에서도 </a:t>
                </a:r>
                <a:r>
                  <a:rPr lang="ko-KR" altLang="en-US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아직 풀리지 않은 문제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AD9972-7DF9-95E1-F8DE-B6E79B463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628" y="1936376"/>
                <a:ext cx="6137030" cy="1754326"/>
              </a:xfrm>
              <a:prstGeom prst="rect">
                <a:avLst/>
              </a:prstGeom>
              <a:blipFill>
                <a:blip r:embed="rId5"/>
                <a:stretch>
                  <a:fillRect l="-894" t="-209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CE1FE0-EBF7-5B43-5876-0D739522A398}"/>
              </a:ext>
            </a:extLst>
          </p:cNvPr>
          <p:cNvSpPr txBox="1"/>
          <p:nvPr/>
        </p:nvSpPr>
        <p:spPr>
          <a:xfrm>
            <a:off x="5160522" y="44111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따라서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완전탐색 대신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RL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같은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기반 휴리스틱</a:t>
            </a:r>
            <a:endParaRPr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접근이 의미 있게 시도될 수 있다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18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3BA2-E8D6-1A78-B43A-FA530D31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E8F90A-5ABB-3E17-63AE-67CA22C67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0876A8C-DE71-C926-A3C2-915456B7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6663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9268E-034C-27C8-15AF-DB7D6260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2" y="1580948"/>
            <a:ext cx="10515600" cy="4351338"/>
          </a:xfrm>
        </p:spPr>
        <p:txBody>
          <a:bodyPr>
            <a:normAutofit/>
          </a:bodyPr>
          <a:lstStyle/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C5E73C-E772-6486-2C30-E4931246EF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34E2D7-7FC8-BC5A-114D-528E9E8F09C3}"/>
              </a:ext>
            </a:extLst>
          </p:cNvPr>
          <p:cNvSpPr txBox="1"/>
          <p:nvPr/>
        </p:nvSpPr>
        <p:spPr>
          <a:xfrm>
            <a:off x="1032902" y="1830216"/>
            <a:ext cx="99316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프로젝트의 목표는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강화 학습을 이용하여 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특정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“모든 순열을 포함하면서 길이는 </a:t>
            </a: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최소”가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되도록 수열 생성 정책을 학습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하여</a:t>
            </a:r>
            <a:endParaRPr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초순열을 생성하는 방법을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구하는 것이다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726D3-260B-39D1-AF4D-1B77645FDE6E}"/>
                  </a:ext>
                </a:extLst>
              </p:cNvPr>
              <p:cNvSpPr txBox="1"/>
              <p:nvPr/>
            </p:nvSpPr>
            <p:spPr>
              <a:xfrm>
                <a:off x="2017927" y="3429000"/>
                <a:ext cx="79615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dirty="0"/>
                  <a:t> for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=3,4,5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대해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RL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사용하여 알려진 초순열의 길이에 도달할 수 있는지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algn="ctr"/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혹은 그와 비슷하게 접근가능한지 확인하고자 한다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726D3-260B-39D1-AF4D-1B77645F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927" y="3429000"/>
                <a:ext cx="7961587" cy="646331"/>
              </a:xfrm>
              <a:prstGeom prst="rect">
                <a:avLst/>
              </a:prstGeom>
              <a:blipFill>
                <a:blip r:embed="rId4"/>
                <a:stretch>
                  <a:fillRect t="-6604" r="-1302"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F2A0E3-3493-210D-F630-FE80D0B76921}"/>
                  </a:ext>
                </a:extLst>
              </p:cNvPr>
              <p:cNvSpPr txBox="1"/>
              <p:nvPr/>
            </p:nvSpPr>
            <p:spPr>
              <a:xfrm>
                <a:off x="1199298" y="5021648"/>
                <a:ext cx="10515600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 </a:t>
                </a:r>
                <a:r>
                  <a:rPr lang="en-US" altLang="ko-KR" dirty="0"/>
                  <a:t>123121321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: 123412314231243121342132413214321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en-US" altLang="ko-KR" sz="1400" dirty="0"/>
                  <a:t>12345123­41523412­53412354­12314523­14253142­35142315­42312453­12435124­31524312­54312134­52134251­34215342­13542132­45132415­32413524­13254132­14532143­52143251­432154321</a:t>
                </a:r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F2A0E3-3493-210D-F630-FE80D0B76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298" y="5021648"/>
                <a:ext cx="10515600" cy="1138773"/>
              </a:xfrm>
              <a:prstGeom prst="rect">
                <a:avLst/>
              </a:prstGeom>
              <a:blipFill>
                <a:blip r:embed="rId5"/>
                <a:stretch>
                  <a:fillRect l="-174" t="-3209" b="-42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02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BDC3-E26A-6F23-1535-A7593B5C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F8C1C2-C0E7-1439-2999-93A96F003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BB3B33-B1A5-282C-E769-205C065E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ADCD1-E7DE-6B76-C51A-7A1ACF671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2" y="1614400"/>
            <a:ext cx="10515600" cy="5112163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Python 3.13.9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gymnasium&gt;=0.29.0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stable-baselines3&gt;=2.0.0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sb3-contrib&gt;=2.0.0</a:t>
            </a:r>
          </a:p>
          <a:p>
            <a:r>
              <a:rPr lang="en-US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numpy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&gt;=1.24.0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pandas&gt;=2.0.0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torch with CUDA 12.4:</a:t>
            </a:r>
          </a:p>
          <a:p>
            <a:r>
              <a:rPr lang="en-US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tqdm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&gt;=4.65.0</a:t>
            </a:r>
          </a:p>
          <a:p>
            <a:r>
              <a:rPr lang="en-US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tensorboard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&gt;=2.14.0</a:t>
            </a: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실행환경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i7-14700 RTX4070/</a:t>
            </a:r>
            <a:r>
              <a:rPr lang="en-US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colab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L4 GPU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7E2DAE-3E29-8B17-D956-FD8AC3DFFA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1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83FD-D5E3-1317-00BD-EE4BEE7B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A001BD-306D-EC96-DC53-6C5950EE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9287B6-FB19-F81E-8D44-61D652E4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설정</a:t>
            </a:r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534743-10E6-E76E-6347-ACE082313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0922" y="1611969"/>
                <a:ext cx="10515600" cy="52460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매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timestep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에서 </a:t>
                </a: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agent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는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{1,…,n}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중 하나의 숫자 혹은 수열</a:t>
                </a: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(action)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선택해 문자열 뒤에 붙인다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새로 생긴 문자열의 형태로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reward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와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penalty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계산해서 학습을 진행한다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=3,4,5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의</m:t>
                    </m:r>
                  </m:oMath>
                </a14:m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경우에 대해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PPO, A2C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방식으로 학습을 진행해보고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Random policy, Greedy heuristic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방식과 비교한다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두가지 설계를 사용한다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Symbolic: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숫자를 선택하는 설계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	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마지막에 붙일 하나의 숫자를 고르는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Action</a:t>
                </a:r>
              </a:p>
              <a:p>
                <a:pPr marL="0" indent="0">
                  <a:buNone/>
                </a:pPr>
                <a:r>
                  <a:rPr lang="en-US" altLang="ko-KR" sz="18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Word_cost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</a:t>
                </a:r>
                <a:r>
                  <a:rPr lang="ko-KR" altLang="en-US" sz="18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순열를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선택하는 설계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	ex)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{ 1,2,…,5</m:t>
                    </m:r>
                    <m:r>
                      <m:rPr>
                        <m:lit/>
                      </m:rP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으로 구성된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12345324132541325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기존의 수열이 있을 때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	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순열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32514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골라 기존의 수열에 최대로 겹치게  붙임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	 12345324132541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+ 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 =&gt; 12345324132541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534743-10E6-E76E-6347-ACE082313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922" y="1611969"/>
                <a:ext cx="10515600" cy="5246031"/>
              </a:xfrm>
              <a:blipFill>
                <a:blip r:embed="rId4"/>
                <a:stretch>
                  <a:fillRect l="-522" t="-1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F72EE14-4FB9-54DF-5FF6-91EAAE9CEB4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3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8807-9BAF-CFD8-CF43-22FB6B80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A457ED-1E71-055B-48CB-A38EA56C0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7425664-6A01-022C-61C6-C2179CEE7E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4410267-CD48-B22C-AB1E-0105D636B27C}"/>
              </a:ext>
            </a:extLst>
          </p:cNvPr>
          <p:cNvSpPr txBox="1">
            <a:spLocks/>
          </p:cNvSpPr>
          <p:nvPr/>
        </p:nvSpPr>
        <p:spPr>
          <a:xfrm>
            <a:off x="688164" y="1586337"/>
            <a:ext cx="6884944" cy="1989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현재까지의 문자열을 관리</a:t>
            </a:r>
            <a:endParaRPr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 만들어진 길이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부분 문자열이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새로운 순열인지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판별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순열을 포함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했는지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최대 길이를 초과했는지 체크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길이와 최대길이의 비율을 관리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9779BF11-AE41-1AB4-C218-B0C6D7B4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설정</a:t>
            </a:r>
            <a:r>
              <a:rPr lang="en-US" altLang="ko-KR" sz="4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환경 설계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1A4AD-0DFD-3E07-AF09-C32721DF3934}"/>
              </a:ext>
            </a:extLst>
          </p:cNvPr>
          <p:cNvSpPr txBox="1"/>
          <p:nvPr/>
        </p:nvSpPr>
        <p:spPr>
          <a:xfrm>
            <a:off x="1199298" y="3689385"/>
            <a:ext cx="67723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Symbolic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Action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하나의 숫자를 선택하는 설계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Word_cost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Action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하나의 </a:t>
            </a:r>
            <a:r>
              <a:rPr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순열를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선택하는 설계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Symbolic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은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Action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공간이 작으며 가장 최소의 변화 단위로 설계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Word_cost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은 순열을 선택하여 최대한 </a:t>
            </a:r>
            <a:r>
              <a:rPr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겹치게되는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방식으로 수열을 변화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초순열에 대한 기존 연구의 접근 방식에서 따와 설계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355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C820D-A82B-193F-2632-FBA37D8C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89B06C-6926-35CB-7DE6-8D0029583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E52AE2-8063-725A-68E1-91555D58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설정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상태 설계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BEFB88-BC22-601B-600C-5173247677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B880C-6816-CCFC-EF86-37F4FEA2FD3A}"/>
                  </a:ext>
                </a:extLst>
              </p:cNvPr>
              <p:cNvSpPr txBox="1"/>
              <p:nvPr/>
            </p:nvSpPr>
            <p:spPr>
              <a:xfrm>
                <a:off x="740921" y="1710763"/>
                <a:ext cx="5467373" cy="2605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Symbolic</a:t>
                </a:r>
              </a:p>
              <a:p>
                <a:r>
                  <a:rPr lang="en-US" altLang="ko-KR" dirty="0"/>
                  <a:t>[</a:t>
                </a:r>
                <a:r>
                  <a:rPr lang="ko-KR" altLang="en-US" dirty="0"/>
                  <a:t>마지막 </a:t>
                </a:r>
                <a:r>
                  <a:rPr lang="en-US" altLang="ko-KR" dirty="0"/>
                  <a:t>n-1</a:t>
                </a:r>
                <a:r>
                  <a:rPr lang="ko-KR" altLang="en-US" dirty="0"/>
                  <a:t>글자</a:t>
                </a:r>
                <a:r>
                  <a:rPr lang="en-US" altLang="ko-KR" dirty="0"/>
                  <a:t>: </a:t>
                </a:r>
                <a:r>
                  <a:rPr lang="ko-KR" altLang="en-US" dirty="0" err="1"/>
                  <a:t>나온순열목록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최대대비길이비율</a:t>
                </a:r>
                <a:r>
                  <a:rPr lang="en-US" altLang="ko-KR" dirty="0"/>
                  <a:t>]</a:t>
                </a:r>
                <a:endParaRPr lang="ko-KR" altLang="en-US" dirty="0"/>
              </a:p>
              <a:p>
                <a:endParaRPr lang="en-US" altLang="ko-KR" dirty="0"/>
              </a:p>
              <a:p>
                <a:r>
                  <a:rPr lang="en-US" altLang="ko-KR" dirty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[0: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!]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dirty="0"/>
                  <a:t>]</a:t>
                </a:r>
                <a:endParaRPr lang="ko-KR" altLang="en-US" dirty="0"/>
              </a:p>
              <a:p>
                <a:endParaRPr lang="en-US" altLang="ko-KR" dirty="0"/>
              </a:p>
              <a:p>
                <a:r>
                  <a:rPr lang="ko-KR" altLang="en-US" dirty="0"/>
                  <a:t>상태의 차원수 </a:t>
                </a:r>
                <a:r>
                  <a:rPr lang="en-US" altLang="ko-KR" dirty="0"/>
                  <a:t>: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!+1=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!+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br>
                  <a:rPr lang="ko-KR" alt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T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까지의 생성된 수열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en-US" altLang="ko-KR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번째 순열이 나왔는지 표시하는 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원핫벡터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B880C-6816-CCFC-EF86-37F4FEA2F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21" y="1710763"/>
                <a:ext cx="5467373" cy="2605329"/>
              </a:xfrm>
              <a:prstGeom prst="rect">
                <a:avLst/>
              </a:prstGeom>
              <a:blipFill>
                <a:blip r:embed="rId5"/>
                <a:stretch>
                  <a:fillRect l="-1004" t="-1405" r="-893" b="-1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04F1ED-BA96-C074-97C4-CF966343102F}"/>
                  </a:ext>
                </a:extLst>
              </p:cNvPr>
              <p:cNvSpPr txBox="1"/>
              <p:nvPr/>
            </p:nvSpPr>
            <p:spPr>
              <a:xfrm>
                <a:off x="6208294" y="1710763"/>
                <a:ext cx="6096000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Word_</a:t>
                </a:r>
                <a:r>
                  <a:rPr lang="en-US" altLang="ko-KR" sz="18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cost</a:t>
                </a:r>
                <a:endParaRPr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dirty="0"/>
                  <a:t>[</a:t>
                </a:r>
                <a:r>
                  <a:rPr lang="ko-KR" altLang="en-US" dirty="0" err="1"/>
                  <a:t>나온순열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코스트벡터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길이비율</a:t>
                </a:r>
                <a:r>
                  <a:rPr lang="en-US" altLang="ko-KR" dirty="0"/>
                  <a:t>]</a:t>
                </a:r>
              </a:p>
              <a:p>
                <a:br>
                  <a:rPr lang="ko-KR" altLang="en-US" dirty="0"/>
                </a:br>
                <a:r>
                  <a:rPr lang="en-US" altLang="ko-KR" dirty="0"/>
                  <a:t>[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[0: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!]</m:t>
                    </m:r>
                  </m:oMath>
                </a14:m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[0: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!]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dirty="0"/>
                  <a:t>]</a:t>
                </a:r>
                <a:endParaRPr lang="ko-KR" altLang="en-US" dirty="0"/>
              </a:p>
              <a:p>
                <a:endParaRPr lang="en-US" altLang="ko-KR" dirty="0"/>
              </a:p>
              <a:p>
                <a:r>
                  <a:rPr lang="ko-KR" altLang="en-US" dirty="0"/>
                  <a:t>상태의 차원수 </a:t>
                </a:r>
                <a:r>
                  <a:rPr lang="en-US" altLang="ko-KR" dirty="0"/>
                  <a:t>: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!+1=2(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!)+</m:t>
                    </m:r>
                  </m:oMath>
                </a14:m>
                <a:r>
                  <a:rPr lang="en-US" altLang="ko-KR" dirty="0"/>
                  <a:t>1</a:t>
                </a:r>
                <a:br>
                  <a:rPr lang="ko-KR" alt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en-US" altLang="ko-KR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번째 순열이 나왔는지 표시하는 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원핫벡터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en-US" altLang="ko-KR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번째 순열이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에서의 수열에 추가될 때 거리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마지막 수열의 정보가 아닌 </a:t>
                </a:r>
                <a:endParaRPr lang="en-US" altLang="ko-KR" dirty="0"/>
              </a:p>
              <a:p>
                <a:r>
                  <a:rPr lang="ko-KR" altLang="en-US" dirty="0"/>
                  <a:t>직접적으로 거리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코스트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를 상태로 하여</a:t>
                </a:r>
                <a:endParaRPr lang="en-US" altLang="ko-KR" dirty="0"/>
              </a:p>
              <a:p>
                <a:r>
                  <a:rPr lang="ko-KR" altLang="en-US" dirty="0"/>
                  <a:t>학습에 도움이 되게 설정</a:t>
                </a:r>
                <a:endParaRPr lang="en-US" altLang="ko-KR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04F1ED-BA96-C074-97C4-CF9663431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294" y="1710763"/>
                <a:ext cx="6096000" cy="3970318"/>
              </a:xfrm>
              <a:prstGeom prst="rect">
                <a:avLst/>
              </a:prstGeom>
              <a:blipFill>
                <a:blip r:embed="rId6"/>
                <a:stretch>
                  <a:fillRect l="-800" t="-922" b="-15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70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7EDA-8077-F400-C845-34A3213F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777789-0FAE-B6FE-9AAB-B7D200DCB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5CA4A6-FA55-6A05-5F67-34064A1E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및 데이터셋 설명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 설계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270AD4-A4DA-9676-D505-164AC235DA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66C445-8B8B-6DC1-C2C3-21BB03D9F244}"/>
                  </a:ext>
                </a:extLst>
              </p:cNvPr>
              <p:cNvSpPr txBox="1"/>
              <p:nvPr/>
            </p:nvSpPr>
            <p:spPr>
              <a:xfrm>
                <a:off x="5685537" y="1889832"/>
                <a:ext cx="6096000" cy="4267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Word</a:t>
                </a:r>
                <a:r>
                  <a:rPr lang="en-US" altLang="ko-KR" sz="18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_cost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</a:t>
                </a:r>
                <a:r>
                  <a:rPr lang="ko-KR" altLang="en-US" sz="18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순열를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선택하는 설계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ex)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{ 1,2,…,5</m:t>
                    </m:r>
                    <m:r>
                      <m:rPr>
                        <m:lit/>
                      </m:rP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으로 구성된 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12345324132541325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기존의 수열이 있을 때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순열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32514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골라 기존의 수열에 최대로 겹치게  붙임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12345324132541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+ 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 =&gt; 12345324132541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325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</a:t>
                </a:r>
              </a:p>
              <a:p>
                <a:pPr marL="0" indent="0">
                  <a:buNone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순열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51432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골랐을 경우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1234532413254132</a:t>
                </a:r>
                <a:r>
                  <a:rPr lang="en-US" altLang="ko-KR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+ </a:t>
                </a:r>
                <a:r>
                  <a:rPr lang="en-US" altLang="ko-KR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1432 =&gt; 1234532413254132</a:t>
                </a:r>
                <a:r>
                  <a:rPr lang="en-US" altLang="ko-KR" dirty="0">
                    <a:solidFill>
                      <a:srgbClr val="FF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1432 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𝑖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∈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𝑆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1,2,…,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으로 고르는 것이므로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n!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차원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66C445-8B8B-6DC1-C2C3-21BB03D9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537" y="1889832"/>
                <a:ext cx="6096000" cy="4267322"/>
              </a:xfrm>
              <a:prstGeom prst="rect">
                <a:avLst/>
              </a:prstGeom>
              <a:blipFill>
                <a:blip r:embed="rId5"/>
                <a:stretch>
                  <a:fillRect l="-900" t="-714" b="-1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899872-8B3B-DB14-B5D7-7C96C5715D2F}"/>
                  </a:ext>
                </a:extLst>
              </p:cNvPr>
              <p:cNvSpPr txBox="1"/>
              <p:nvPr/>
            </p:nvSpPr>
            <p:spPr>
              <a:xfrm>
                <a:off x="410463" y="1889832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Symbolic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하나의 숫자를 선택하는 설계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마지막에 붙일 하나의 숫자를 고르는 </a:t>
                </a:r>
                <a:r>
                  <a:rPr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Action</a:t>
                </a:r>
              </a:p>
              <a:p>
                <a:pPr marL="0" indent="0">
                  <a:buNone/>
                </a:pP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𝑖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∈{1,2,…,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}</m:t>
                    </m:r>
                  </m:oMath>
                </a14:m>
                <a:r>
                  <a:rPr lang="ko-KR" altLang="en-US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으로 고르는 것이므로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차원</a:t>
                </a: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899872-8B3B-DB14-B5D7-7C96C5715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63" y="1889832"/>
                <a:ext cx="6096000" cy="1200329"/>
              </a:xfrm>
              <a:prstGeom prst="rect">
                <a:avLst/>
              </a:prstGeom>
              <a:blipFill>
                <a:blip r:embed="rId6"/>
                <a:stretch>
                  <a:fillRect l="-800" t="-2538" b="-7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64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E9F4-96F7-A325-5456-9A06D242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9BF69-F521-DB9E-B151-7C39F310A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E2266BE-FC88-CA24-C580-5A043981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및 데이터셋 설명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보상함수 설계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02AA2D-3A17-A138-F059-8FDAA73C2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554" y="2813162"/>
                <a:ext cx="1348415" cy="1685277"/>
              </a:xfrm>
            </p:spPr>
            <p:txBody>
              <a:bodyPr>
                <a:normAutofit/>
              </a:bodyPr>
              <a:lstStyle/>
              <a:p>
                <a:pPr lvl="1"/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ko-KR" altLang="en-US" sz="1800" b="1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최종 보상</a:t>
                </a:r>
                <a:endParaRPr lang="en-US" altLang="ko-KR" sz="1800" b="1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final</m:t>
                          </m:r>
                        </m:sub>
                      </m:sSub>
                      <m:r>
                        <a:rPr lang="en-US" altLang="ko-KR" sz="1400" b="0" i="0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goal</m:t>
                          </m:r>
                        </m:sub>
                      </m:sSub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goal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=50</m:t>
                      </m:r>
                    </m:oMath>
                  </m:oMathPara>
                </a14:m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	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02AA2D-3A17-A138-F059-8FDAA73C2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554" y="2813162"/>
                <a:ext cx="1348415" cy="1685277"/>
              </a:xfrm>
              <a:blipFill>
                <a:blip r:embed="rId4"/>
                <a:stretch>
                  <a:fillRect l="-4072" t="-1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D12752B-0038-E40A-FB78-335722F19C2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69BC4E-ADEC-1956-7ED4-D201D931A4DB}"/>
                  </a:ext>
                </a:extLst>
              </p:cNvPr>
              <p:cNvSpPr txBox="1"/>
              <p:nvPr/>
            </p:nvSpPr>
            <p:spPr>
              <a:xfrm>
                <a:off x="5685537" y="4203342"/>
                <a:ext cx="406029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 </m:t>
                      </m:r>
                    </m:oMath>
                  </m:oMathPara>
                </a14:m>
                <a:endParaRPr lang="ko-KR" alt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Δ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: </a:t>
                </a:r>
                <a:r>
                  <a:rPr lang="ko-KR" altLang="en-US" sz="16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그 스텝에서 새로 발견된 순열 수</a:t>
                </a:r>
                <a:endParaRPr lang="en-US" altLang="ko-KR" sz="16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69BC4E-ADEC-1956-7ED4-D201D931A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537" y="4203342"/>
                <a:ext cx="4060291" cy="11695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37377F-186A-C882-34FB-6774CE7F8724}"/>
                  </a:ext>
                </a:extLst>
              </p:cNvPr>
              <p:cNvSpPr txBox="1"/>
              <p:nvPr/>
            </p:nvSpPr>
            <p:spPr>
              <a:xfrm>
                <a:off x="5685537" y="1889832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Word</a:t>
                </a:r>
                <a:r>
                  <a:rPr lang="en-US" altLang="ko-KR" sz="18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_cost</a:t>
                </a:r>
                <a:endParaRPr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lang="en-US" altLang="ko-KR" dirty="0">
                    <a:ea typeface="Noto Sans KR" panose="020B0200000000000000" pitchFamily="50" charset="-127"/>
                  </a:rPr>
                  <a:t>Reward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r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)=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α</m:t>
                    </m:r>
                    <m: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Δ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λ</m:t>
                    </m:r>
                    <m: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⋅</m:t>
                    </m:r>
                    <m:r>
                      <a:rPr lang="ko-KR" altLang="en-US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증가한</m:t>
                    </m:r>
                    <m:r>
                      <a:rPr lang="ko-KR" altLang="en-US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lang="ko-KR" altLang="en-US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길이</m:t>
                    </m:r>
                  </m:oMath>
                </a14:m>
                <a:endParaRPr lang="en-US" altLang="ko-KR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37377F-186A-C882-34FB-6774CE7F8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537" y="1889832"/>
                <a:ext cx="6096000" cy="923330"/>
              </a:xfrm>
              <a:prstGeom prst="rect">
                <a:avLst/>
              </a:prstGeom>
              <a:blipFill>
                <a:blip r:embed="rId7"/>
                <a:stretch>
                  <a:fillRect l="-900" t="-3311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7B03CB-36D3-CD2B-019B-E8CAD572C157}"/>
                  </a:ext>
                </a:extLst>
              </p:cNvPr>
              <p:cNvSpPr txBox="1"/>
              <p:nvPr/>
            </p:nvSpPr>
            <p:spPr>
              <a:xfrm>
                <a:off x="410463" y="1889832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Symbolic</a:t>
                </a:r>
              </a:p>
              <a:p>
                <a:r>
                  <a:rPr lang="en-US" altLang="ko-KR" b="0" dirty="0">
                    <a:ea typeface="Noto Sans KR" panose="020B0200000000000000" pitchFamily="50" charset="-127"/>
                  </a:rPr>
                  <a:t>Reward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r</m:t>
                    </m:r>
                    <m:d>
                      <m:dPr>
                        <m:ctrlPr>
                          <a:rPr lang="en-US" altLang="ko-KR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α</m:t>
                    </m:r>
                    <m: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Δ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λ</m:t>
                    </m:r>
                  </m:oMath>
                </a14:m>
                <a:r>
                  <a:rPr lang="en-US" altLang="ko-KR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7B03CB-36D3-CD2B-019B-E8CAD572C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63" y="1889832"/>
                <a:ext cx="6096000" cy="923330"/>
              </a:xfrm>
              <a:prstGeom prst="rect">
                <a:avLst/>
              </a:prstGeom>
              <a:blipFill>
                <a:blip r:embed="rId8"/>
                <a:stretch>
                  <a:fillRect l="-800" t="-3311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468C32-0316-14C7-F184-ABB599A1E7E6}"/>
              </a:ext>
            </a:extLst>
          </p:cNvPr>
          <p:cNvSpPr txBox="1"/>
          <p:nvPr/>
        </p:nvSpPr>
        <p:spPr>
          <a:xfrm>
            <a:off x="2221565" y="5457137"/>
            <a:ext cx="61370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설계 의도</a:t>
            </a:r>
            <a:endParaRPr lang="en-US" altLang="ko-KR" sz="18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새 순열을 많이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,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빠르게 찾도록 유도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문자열을 짧게 만들수록 유리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목표를 달성하면 큰 보상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,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단 길이가 길면 페널티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내용 개체 틀 2">
                <a:extLst>
                  <a:ext uri="{FF2B5EF4-FFF2-40B4-BE49-F238E27FC236}">
                    <a16:creationId xmlns:a16="http://schemas.microsoft.com/office/drawing/2014/main" id="{73AE9EDC-E39A-08F9-BBED-361C8E582A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7628" y="2890543"/>
                <a:ext cx="1348415" cy="16852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ko-KR" altLang="en-US" sz="1800" b="1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최종 보상</a:t>
                </a:r>
                <a:endParaRPr lang="en-US" altLang="ko-KR" sz="1800" b="1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final</m:t>
                          </m:r>
                        </m:sub>
                      </m:sSub>
                      <m:r>
                        <a:rPr lang="en-US" altLang="ko-KR" sz="1400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smtClean="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goal</m:t>
                          </m:r>
                        </m:sub>
                      </m:sSub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  <a:ea typeface="Noto Sans KR" panose="020B0200000000000000" pitchFamily="50" charset="-127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Noto Sans KR" panose="020B0200000000000000" pitchFamily="50" charset="-127"/>
                            </a:rPr>
                            <m:t>goal</m:t>
                          </m:r>
                        </m:sub>
                      </m:sSub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Noto Sans KR" panose="020B0200000000000000" pitchFamily="50" charset="-127"/>
                        </a:rPr>
                        <m:t>=50</m:t>
                      </m:r>
                    </m:oMath>
                  </m:oMathPara>
                </a14:m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	</a:t>
                </a:r>
              </a:p>
            </p:txBody>
          </p:sp>
        </mc:Choice>
        <mc:Fallback>
          <p:sp>
            <p:nvSpPr>
              <p:cNvPr id="12" name="내용 개체 틀 2">
                <a:extLst>
                  <a:ext uri="{FF2B5EF4-FFF2-40B4-BE49-F238E27FC236}">
                    <a16:creationId xmlns:a16="http://schemas.microsoft.com/office/drawing/2014/main" id="{73AE9EDC-E39A-08F9-BBED-361C8E582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628" y="2890543"/>
                <a:ext cx="1348415" cy="1685277"/>
              </a:xfrm>
              <a:prstGeom prst="rect">
                <a:avLst/>
              </a:prstGeom>
              <a:blipFill>
                <a:blip r:embed="rId9"/>
                <a:stretch>
                  <a:fillRect l="-4072" t="-18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96E6AB-2194-6261-53CE-1A0CB9CA727B}"/>
                  </a:ext>
                </a:extLst>
              </p:cNvPr>
              <p:cNvSpPr txBox="1"/>
              <p:nvPr/>
            </p:nvSpPr>
            <p:spPr>
              <a:xfrm>
                <a:off x="410463" y="4044839"/>
                <a:ext cx="406029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 </m:t>
                      </m:r>
                    </m:oMath>
                  </m:oMathPara>
                </a14:m>
                <a:endParaRPr lang="ko-KR" alt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Δ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: </a:t>
                </a:r>
                <a:r>
                  <a:rPr lang="ko-KR" altLang="en-US" sz="16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그 스텝에서 새로 발견된 순열 </a:t>
                </a:r>
                <a:endParaRPr lang="en-US" altLang="ko-KR" sz="16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96E6AB-2194-6261-53CE-1A0CB9CA7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63" y="4044839"/>
                <a:ext cx="4060291" cy="11695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28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DA09-5909-2973-060D-FF4CA9F4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20D9CE-B602-CAE8-77F5-23B3E8CA1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7EF604-3700-881B-647E-93AB9F4F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및 데이터셋 설명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에피소드 종료 조건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417848-C8D6-D795-9CB7-F893169F7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0922" y="1611970"/>
                <a:ext cx="10515600" cy="41557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sz="1800" b="1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성공 조건</a:t>
                </a:r>
                <a:endParaRPr lang="en-US" altLang="ko-KR" sz="1800" b="1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None/>
                </a:pP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모든 순열이 최소 한 번씩 등장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→ coverage ratio = 1</a:t>
                </a:r>
              </a:p>
              <a:p>
                <a:pPr marL="457200" lvl="1" indent="0"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ko-KR" altLang="en-US" sz="1800" b="1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실패 조건</a:t>
                </a:r>
                <a:endParaRPr lang="en-US" altLang="ko-KR" sz="1800" b="1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최종 문자열 길이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T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n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!⋅</m:t>
                    </m:r>
                    <m:f>
                      <m:f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n</m:t>
                        </m:r>
                      </m:num>
                      <m:den>
                        <m:r>
                          <a:rPr lang="en-US" altLang="ko-KR" sz="1400" b="0" i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2</m:t>
                        </m:r>
                      </m:den>
                    </m:f>
                  </m:oMath>
                </a14:m>
                <a:b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</a:b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만약 초과한다면 실패로 간주하고 에피소드 강제 종료</a:t>
                </a: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lvl="1"/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None/>
                </a:pP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이유 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:</a:t>
                </a:r>
              </a:p>
              <a:p>
                <a:pPr marL="457200" lvl="1" indent="0">
                  <a:buNone/>
                </a:pP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무한히 길어지는 시도를 방지</a:t>
                </a: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None/>
                </a:pP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실패 비율로 난이도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,</a:t>
                </a: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학습 상태를 진단</a:t>
                </a: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𝑆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𝑛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의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잘</m:t>
                    </m:r>
                  </m:oMath>
                </a14:m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알려진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upper bound</a:t>
                </a: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𝑛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!+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𝑛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−1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!+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𝑛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−2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!+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𝑛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Noto Sans KR" panose="020B0200000000000000" pitchFamily="34" charset="-128"/>
                          </a:rPr>
                          <m:t>−3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!+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𝑛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−3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이</m:t>
                    </m:r>
                  </m:oMath>
                </a14:m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다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𝑛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=3,4,5</m:t>
                    </m:r>
                  </m:oMath>
                </a14:m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  <a:r>
                  <a:rPr lang="ko-KR" altLang="en-US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정도에서는 충분하다고 판단하였다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417848-C8D6-D795-9CB7-F893169F7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922" y="1611970"/>
                <a:ext cx="10515600" cy="4155784"/>
              </a:xfrm>
              <a:blipFill>
                <a:blip r:embed="rId4"/>
                <a:stretch>
                  <a:fillRect l="-522" t="-13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CF0990B-F8E9-5F1C-CEC6-269D8E99701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50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70A2-C1A2-C32E-FD5C-20D12E0F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42396-26AA-9C08-0DA7-12F8DBC04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4B86F9-28C0-4302-148A-738F7D0B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환경 및 데이터셋 설명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en-US" altLang="ko-KR" sz="32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Baseline </a:t>
            </a:r>
            <a:r>
              <a:rPr lang="ko-KR" altLang="en-US" sz="32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정책</a:t>
            </a:r>
            <a:endParaRPr lang="ko-KR" altLang="en-US" sz="36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189FE6-7EA1-19B9-03BA-89BB7B66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2" y="1611970"/>
            <a:ext cx="10515600" cy="3243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Random Policy</a:t>
            </a:r>
          </a:p>
          <a:p>
            <a:pPr marL="457200" lvl="1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매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step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action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을 균일한 확률로 샘플링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457200" lvl="1" indent="0">
              <a:buNone/>
            </a:pP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en-US" altLang="ko-KR" sz="18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Greedy Heuristic</a:t>
            </a:r>
          </a:p>
          <a:p>
            <a:pPr marL="457200" lvl="1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현재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state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 새 순열을 가장 많이 만들 수 있는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action 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선택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457200" lvl="1" indent="0">
              <a:buNone/>
            </a:pP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역할 </a:t>
            </a:r>
            <a:r>
              <a:rPr lang="en-US" altLang="ko-KR" sz="18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:</a:t>
            </a:r>
          </a:p>
          <a:p>
            <a:pPr marL="457200" lvl="1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강화학습 알고리즘과 비교할 기준선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457200" lvl="1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작은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에서는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baseline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과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RL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의 성능 차이를 명확하게 보여주기 위함</a:t>
            </a: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64F603-F66C-40DF-BB8B-FAFAA1C9F6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71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138B-11D0-846B-F47E-98360BCC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55E5B3-4D3E-15AC-0B31-0E7A2CFC4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6AC80F1-0A32-BCC7-0B21-941515B6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강화학습 알고리즘 선택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430474-F1F5-0A28-0424-556F392BBDF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F934993-4AB1-4C85-60BE-A5308D7C8CFD}"/>
              </a:ext>
            </a:extLst>
          </p:cNvPr>
          <p:cNvSpPr txBox="1">
            <a:spLocks/>
          </p:cNvSpPr>
          <p:nvPr/>
        </p:nvSpPr>
        <p:spPr>
          <a:xfrm>
            <a:off x="740922" y="1611970"/>
            <a:ext cx="10515600" cy="3243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>
                <a:latin typeface="Arial" panose="020B0604020202020204" pitchFamily="34" charset="0"/>
                <a:ea typeface="Google Sans Text"/>
              </a:rPr>
              <a:t>N! 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크기의 상태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공간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, 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액션 공간이 나오며 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sequence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를 </a:t>
            </a:r>
            <a:r>
              <a:rPr lang="ko-KR" altLang="en-US" sz="1800" dirty="0" err="1">
                <a:latin typeface="Arial" panose="020B0604020202020204" pitchFamily="34" charset="0"/>
                <a:ea typeface="Google Sans Text"/>
              </a:rPr>
              <a:t>만드는것이라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 순서도 영향을 끼치며 최종 길이에 도달해 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Goal in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점수를 받기까지 행동에 대한 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reward</a:t>
            </a:r>
            <a:r>
              <a:rPr lang="ko-KR" altLang="en-US" sz="1800" dirty="0">
                <a:latin typeface="Arial" panose="020B0604020202020204" pitchFamily="34" charset="0"/>
                <a:ea typeface="Google Sans Text"/>
              </a:rPr>
              <a:t>가 지연된다</a:t>
            </a:r>
            <a:r>
              <a:rPr lang="en-US" altLang="ko-KR" sz="1800" dirty="0">
                <a:latin typeface="Arial" panose="020B0604020202020204" pitchFamily="34" charset="0"/>
                <a:ea typeface="Google Sans Text"/>
              </a:rPr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>
                <a:latin typeface="Arial" panose="020B0604020202020204" pitchFamily="34" charset="0"/>
              </a:rPr>
              <a:t>DQN</a:t>
            </a:r>
            <a:r>
              <a:rPr lang="en-US" altLang="ko-KR" sz="1800" dirty="0">
                <a:latin typeface="Arial" panose="020B0604020202020204" pitchFamily="34" charset="0"/>
              </a:rPr>
              <a:t>: </a:t>
            </a:r>
            <a:r>
              <a:rPr lang="ko-KR" altLang="en-US" sz="1800" dirty="0">
                <a:latin typeface="Arial" panose="020B0604020202020204" pitchFamily="34" charset="0"/>
              </a:rPr>
              <a:t>행동</a:t>
            </a:r>
            <a:r>
              <a:rPr lang="en-US" altLang="ko-KR" sz="1800" dirty="0">
                <a:latin typeface="Arial" panose="020B0604020202020204" pitchFamily="34" charset="0"/>
              </a:rPr>
              <a:t>/</a:t>
            </a:r>
            <a:r>
              <a:rPr lang="ko-KR" altLang="en-US" sz="1800" dirty="0">
                <a:latin typeface="Arial" panose="020B0604020202020204" pitchFamily="34" charset="0"/>
              </a:rPr>
              <a:t>상태 공간이 넓어 학습이 </a:t>
            </a:r>
            <a:r>
              <a:rPr lang="ko-KR" altLang="en-US" sz="1800" dirty="0" err="1">
                <a:latin typeface="Arial" panose="020B0604020202020204" pitchFamily="34" charset="0"/>
              </a:rPr>
              <a:t>어려울거라</a:t>
            </a:r>
            <a:r>
              <a:rPr lang="ko-KR" altLang="en-US" sz="1800" dirty="0">
                <a:latin typeface="Arial" panose="020B0604020202020204" pitchFamily="34" charset="0"/>
              </a:rPr>
              <a:t> 생각해 배제 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>
                <a:latin typeface="Arial" panose="020B0604020202020204" pitchFamily="34" charset="0"/>
              </a:rPr>
              <a:t>A2C/PPO</a:t>
            </a:r>
            <a:r>
              <a:rPr lang="en-US" altLang="ko-KR" sz="1800" dirty="0">
                <a:latin typeface="Arial" panose="020B0604020202020204" pitchFamily="34" charset="0"/>
              </a:rPr>
              <a:t>: </a:t>
            </a:r>
            <a:r>
              <a:rPr lang="ko-KR" altLang="en-US" sz="1800" dirty="0">
                <a:latin typeface="Arial" panose="020B0604020202020204" pitchFamily="34" charset="0"/>
              </a:rPr>
              <a:t>확률적 탐색으로 넓은 탐</a:t>
            </a:r>
            <a:r>
              <a:rPr lang="en-US" altLang="ko-KR" sz="1800" dirty="0">
                <a:latin typeface="Arial" panose="020B0604020202020204" pitchFamily="34" charset="0"/>
              </a:rPr>
              <a:t>, critic</a:t>
            </a:r>
            <a:r>
              <a:rPr lang="ko-KR" altLang="en-US" sz="1800" dirty="0">
                <a:latin typeface="Arial" panose="020B0604020202020204" pitchFamily="34" charset="0"/>
              </a:rPr>
              <a:t>의 존재로 지연 보상 해결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>
                <a:latin typeface="Arial" panose="020B0604020202020204" pitchFamily="34" charset="0"/>
              </a:rPr>
              <a:t>특히 </a:t>
            </a:r>
            <a:r>
              <a:rPr lang="en-US" altLang="ko-KR" sz="1800" dirty="0">
                <a:latin typeface="Arial" panose="020B0604020202020204" pitchFamily="34" charset="0"/>
              </a:rPr>
              <a:t>PPO</a:t>
            </a:r>
            <a:r>
              <a:rPr lang="ko-KR" altLang="en-US" sz="1800" dirty="0">
                <a:latin typeface="Arial" panose="020B0604020202020204" pitchFamily="34" charset="0"/>
              </a:rPr>
              <a:t>는 안정적인 학습의 장점을 주목하였음</a:t>
            </a:r>
            <a:r>
              <a:rPr lang="en-US" altLang="ko-KR" sz="18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dirty="0">
                <a:latin typeface="Arial" panose="020B0604020202020204" pitchFamily="34" charset="0"/>
              </a:rPr>
              <a:t>A2C</a:t>
            </a:r>
            <a:r>
              <a:rPr lang="ko-KR" altLang="en-US" sz="1800" dirty="0">
                <a:latin typeface="Arial" panose="020B0604020202020204" pitchFamily="34" charset="0"/>
              </a:rPr>
              <a:t>의 경우 불안정한 학습에 우려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dirty="0">
                <a:latin typeface="Arial" panose="020B0604020202020204" pitchFamily="34" charset="0"/>
              </a:rPr>
              <a:t>Sequence</a:t>
            </a:r>
            <a:r>
              <a:rPr lang="ko-KR" altLang="en-US" sz="1800" dirty="0">
                <a:latin typeface="Arial" panose="020B0604020202020204" pitchFamily="34" charset="0"/>
              </a:rPr>
              <a:t>를 만드는 학습이므로 </a:t>
            </a:r>
            <a:r>
              <a:rPr lang="en-US" altLang="ko-KR" sz="1800" dirty="0">
                <a:latin typeface="Arial" panose="020B0604020202020204" pitchFamily="34" charset="0"/>
              </a:rPr>
              <a:t>policy </a:t>
            </a:r>
            <a:r>
              <a:rPr lang="ko-KR" altLang="en-US" sz="1800" dirty="0">
                <a:latin typeface="Arial" panose="020B0604020202020204" pitchFamily="34" charset="0"/>
              </a:rPr>
              <a:t>기반 알고리즘이 우위일 것이라 예측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6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4087-4DCF-1D09-6C06-63399D33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30D17F-35F8-7E7C-C803-21E9CD318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A30B8A-F604-2888-68A7-CAC34F6E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강화학습 알고리즘 선택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Hyperparameter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529B1A-69A2-ECCF-A01C-AFA9D058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806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"</a:t>
            </a:r>
            <a:r>
              <a:rPr lang="en-US" altLang="ko-KR" sz="1400" dirty="0" err="1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ppo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": {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    "</a:t>
            </a:r>
            <a:r>
              <a:rPr lang="en-US" altLang="ko-KR" sz="1400" dirty="0" err="1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learning_rate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": [3e-4, 1e-4],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    "gamma": [0.99, 0.995],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},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"a2c": {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    "</a:t>
            </a:r>
            <a:r>
              <a:rPr lang="en-US" altLang="ko-KR" sz="1400" dirty="0" err="1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learning_rate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": [7e-4],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    "gamma": [0.99, 0.995],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},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BASELINE_EPISODES: </a:t>
            </a:r>
            <a:r>
              <a:rPr lang="en-US" altLang="ko-KR" sz="1400" dirty="0" err="1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Dict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[str, int] = {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"random": 100,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    "greedy": 100,</a:t>
            </a:r>
          </a:p>
          <a:p>
            <a:pPr marL="0" indent="0">
              <a:buNone/>
            </a:pP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  <a:cs typeface="Noto Sans NKo" panose="020B0502040504020204" pitchFamily="34" charset="0"/>
              </a:rPr>
              <a:t>}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8E552A-57C8-F44E-4C75-E0BE26C612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876C8BAD-BA0B-10F6-F54C-89E08EEFD2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78659" y="1779647"/>
                <a:ext cx="5998783" cy="48064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SEEDS: List[int] = [0, 1, 2, 42, 100, 123, 999]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ko-KR" altLang="en-US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실험한 </a:t>
                </a:r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</a:t>
                </a:r>
                <a:r>
                  <a:rPr lang="ko-KR" altLang="en-US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값</a:t>
                </a:r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n</m:t>
                    </m:r>
                    <m:r>
                      <a:rPr lang="en-US" altLang="ko-KR" sz="1800" b="0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=3, 4,5</m:t>
                    </m:r>
                    <m:r>
                      <a:rPr lang="en-US" altLang="ko-KR" sz="1800" b="0" i="0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,6)</m:t>
                    </m:r>
                  </m:oMath>
                </a14:m>
                <a:r>
                  <a:rPr lang="en-US" altLang="ko-KR" sz="18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TIMESTEPS: </a:t>
                </a:r>
                <a:r>
                  <a:rPr lang="en-US" altLang="ko-KR" sz="14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Dict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[str, int] = {</a:t>
                </a:r>
              </a:p>
              <a:p>
                <a:pPr marL="0" indent="0">
                  <a:buNone/>
                </a:pP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   "</a:t>
                </a:r>
                <a:r>
                  <a:rPr lang="en-US" altLang="ko-KR" sz="14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ppo</a:t>
                </a: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": 300_000,</a:t>
                </a:r>
              </a:p>
              <a:p>
                <a:pPr marL="0" indent="0">
                  <a:buNone/>
                </a:pP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   "a2c": 300_000,</a:t>
                </a:r>
              </a:p>
              <a:p>
                <a:pPr marL="0" indent="0">
                  <a:buNone/>
                </a:pPr>
                <a:r>
                  <a:rPr lang="en-US" altLang="ko-KR" sz="14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}</a:t>
                </a:r>
              </a:p>
              <a:p>
                <a:pPr marL="0" indent="0"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altLang="ko-KR" sz="14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</p:txBody>
          </p:sp>
        </mc:Choice>
        <mc:Fallback>
          <p:sp>
            <p:nvSpPr>
              <p:cNvPr id="6" name="내용 개체 틀 4">
                <a:extLst>
                  <a:ext uri="{FF2B5EF4-FFF2-40B4-BE49-F238E27FC236}">
                    <a16:creationId xmlns:a16="http://schemas.microsoft.com/office/drawing/2014/main" id="{876C8BAD-BA0B-10F6-F54C-89E08EEFD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659" y="1779647"/>
                <a:ext cx="5998783" cy="4806403"/>
              </a:xfrm>
              <a:prstGeom prst="rect">
                <a:avLst/>
              </a:prstGeom>
              <a:blipFill>
                <a:blip r:embed="rId5"/>
                <a:stretch>
                  <a:fillRect l="-812" t="-1269" b="-98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809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C441-63F9-C891-C8EC-F1F3CD56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45B9D175-5F5F-0841-7084-033A05F87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0BB8D1A-FEFB-4E67-17BC-A2B6CE5DFC24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평가 지표 정리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C3D20A-0A16-9895-E576-AD79411758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954CE5-9227-2D4A-1109-57DE5FD41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내용 개체 틀 4">
            <a:extLst>
              <a:ext uri="{FF2B5EF4-FFF2-40B4-BE49-F238E27FC236}">
                <a16:creationId xmlns:a16="http://schemas.microsoft.com/office/drawing/2014/main" id="{54D880AC-D33E-97D4-A0F0-088090816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806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 err="1"/>
              <a:t>final_length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에피소드가 끝났을 때 초순열의 최종 길이</a:t>
            </a:r>
          </a:p>
          <a:p>
            <a:pPr marL="0" indent="0">
              <a:buNone/>
            </a:pPr>
            <a:r>
              <a:rPr lang="en-US" altLang="ko-KR" sz="1800" b="1" dirty="0"/>
              <a:t>Success : </a:t>
            </a:r>
            <a:r>
              <a:rPr lang="ko-KR" altLang="en-US" sz="1800" b="1" dirty="0"/>
              <a:t>목표 조건을 만족했는지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성공</a:t>
            </a:r>
            <a:r>
              <a:rPr lang="en-US" altLang="ko-KR" sz="1800" b="1" dirty="0"/>
              <a:t>: 1, </a:t>
            </a:r>
            <a:r>
              <a:rPr lang="ko-KR" altLang="en-US" sz="1800" b="1" dirty="0"/>
              <a:t>실패</a:t>
            </a:r>
            <a:r>
              <a:rPr lang="en-US" altLang="ko-KR" sz="1800" b="1" dirty="0"/>
              <a:t>: 0)</a:t>
            </a:r>
          </a:p>
          <a:p>
            <a:pPr marL="0" indent="0">
              <a:buNone/>
            </a:pPr>
            <a:r>
              <a:rPr lang="en-US" altLang="ko-KR" sz="1800" b="1" dirty="0" err="1"/>
              <a:t>coverage_ratio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덮은 순열의 비율 </a:t>
            </a:r>
            <a:r>
              <a:rPr lang="en-US" altLang="ko-KR" sz="1800" b="1" dirty="0"/>
              <a:t>(#covered perms/n!)</a:t>
            </a:r>
          </a:p>
          <a:p>
            <a:pPr marL="0" indent="0">
              <a:buNone/>
            </a:pPr>
            <a:r>
              <a:rPr lang="en-US" altLang="ko-KR" sz="1800" b="1" dirty="0" err="1"/>
              <a:t>episode_steps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해당 에피소드에서 실행한 액션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스텝</a:t>
            </a:r>
            <a:r>
              <a:rPr lang="en-US" altLang="ko-KR" sz="1800" b="1" dirty="0"/>
              <a:t>) </a:t>
            </a:r>
            <a:r>
              <a:rPr lang="ko-KR" altLang="en-US" sz="1800" b="1" dirty="0"/>
              <a:t>수</a:t>
            </a:r>
          </a:p>
          <a:p>
            <a:pPr marL="0" indent="0">
              <a:buNone/>
            </a:pPr>
            <a:r>
              <a:rPr lang="en-US" altLang="ko-KR" sz="1800" b="1" dirty="0" err="1"/>
              <a:t>episode_return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한 에피소드 동안 받은 총 보상</a:t>
            </a:r>
          </a:p>
          <a:p>
            <a:pPr marL="0" indent="0">
              <a:buNone/>
            </a:pPr>
            <a:r>
              <a:rPr lang="en-US" altLang="ko-KR" sz="1800" b="1" dirty="0" err="1"/>
              <a:t>duplicate_action_ratio</a:t>
            </a:r>
            <a:r>
              <a:rPr lang="en-US" altLang="ko-KR" sz="1800" b="1" dirty="0"/>
              <a:t> :  </a:t>
            </a:r>
            <a:r>
              <a:rPr lang="ko-KR" altLang="en-US" sz="1800" b="1" dirty="0"/>
              <a:t>에피소드 동안 중복된 액션의 비율</a:t>
            </a:r>
          </a:p>
          <a:p>
            <a:pPr marL="0" indent="0">
              <a:buNone/>
            </a:pPr>
            <a:r>
              <a:rPr lang="en-US" altLang="ko-KR" sz="1800" b="1" dirty="0" err="1"/>
              <a:t>new_perms_total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새롭게 발견한 순열 개수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누적 또는 에피소드 기준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en-US" altLang="ko-KR" sz="1800" b="1" dirty="0" err="1"/>
              <a:t>best_final_length_so_far</a:t>
            </a:r>
            <a:r>
              <a:rPr lang="en-US" altLang="ko-KR" sz="1800" b="1" dirty="0"/>
              <a:t> : </a:t>
            </a:r>
            <a:r>
              <a:rPr lang="ko-KR" altLang="en-US" sz="1800" b="1" dirty="0"/>
              <a:t>지금까지 관측된 최단 </a:t>
            </a:r>
            <a:r>
              <a:rPr lang="ko-KR" altLang="en-US" sz="1800" b="1" dirty="0" err="1"/>
              <a:t>초순열</a:t>
            </a:r>
            <a:r>
              <a:rPr lang="ko-KR" altLang="en-US" sz="1800" b="1" dirty="0"/>
              <a:t> 길이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시작 </a:t>
            </a:r>
            <a:r>
              <a:rPr lang="en-US" altLang="ko-KR" sz="1800" b="1" dirty="0"/>
              <a:t>inf)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>
                <a:ea typeface="Noto Sans KR" panose="020B0200000000000000" pitchFamily="50" charset="-127"/>
              </a:rPr>
              <a:t>가장 짧은 </a:t>
            </a:r>
            <a:r>
              <a:rPr lang="en-US" altLang="ko-KR" sz="1800" b="1" dirty="0">
                <a:ea typeface="Noto Sans KR" panose="020B0200000000000000" pitchFamily="50" charset="-127"/>
              </a:rPr>
              <a:t>3</a:t>
            </a:r>
            <a:r>
              <a:rPr lang="ko-KR" altLang="en-US" sz="1800" b="1" dirty="0">
                <a:ea typeface="Noto Sans KR" panose="020B0200000000000000" pitchFamily="50" charset="-127"/>
              </a:rPr>
              <a:t>개 </a:t>
            </a:r>
            <a:r>
              <a:rPr lang="ko-KR" altLang="en-US" sz="1800" b="1" dirty="0" err="1">
                <a:ea typeface="Noto Sans KR" panose="020B0200000000000000" pitchFamily="50" charset="-127"/>
              </a:rPr>
              <a:t>초순열</a:t>
            </a:r>
            <a:r>
              <a:rPr lang="ko-KR" altLang="en-US" sz="1800" b="1" dirty="0">
                <a:ea typeface="Noto Sans KR" panose="020B0200000000000000" pitchFamily="50" charset="-127"/>
              </a:rPr>
              <a:t> </a:t>
            </a:r>
            <a:r>
              <a:rPr lang="en-US" altLang="ko-KR" sz="1800" b="1" dirty="0">
                <a:ea typeface="Noto Sans KR" panose="020B0200000000000000" pitchFamily="50" charset="-127"/>
              </a:rPr>
              <a:t> : </a:t>
            </a:r>
            <a:r>
              <a:rPr lang="ko-KR" altLang="en-US" sz="1400" dirty="0"/>
              <a:t>각 설정마다 </a:t>
            </a:r>
            <a:r>
              <a:rPr lang="en-US" altLang="ko-KR" sz="1400" dirty="0"/>
              <a:t>top-3 </a:t>
            </a:r>
            <a:r>
              <a:rPr lang="ko-KR" altLang="en-US" sz="1400" dirty="0"/>
              <a:t>초순열과 해당 길이</a:t>
            </a:r>
            <a:r>
              <a:rPr lang="en-US" altLang="ko-KR" sz="1400" dirty="0"/>
              <a:t>, return </a:t>
            </a:r>
            <a:r>
              <a:rPr lang="ko-KR" altLang="en-US" sz="1400" dirty="0"/>
              <a:t>기록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41109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7CFD-5425-7DB1-D44B-A0337FAA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6A89B1-E594-757C-E2FA-43D613A83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4B265CF-919F-FAFD-896E-862812B8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2" y="385201"/>
            <a:ext cx="10515600" cy="1569724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 개요</a:t>
            </a:r>
            <a:endParaRPr lang="ko-KR" altLang="en-US" sz="3600" b="1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4">
                <a:extLst>
                  <a:ext uri="{FF2B5EF4-FFF2-40B4-BE49-F238E27FC236}">
                    <a16:creationId xmlns:a16="http://schemas.microsoft.com/office/drawing/2014/main" id="{B22DD1AC-B038-CA6A-3D97-EF298C2C2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1600" y="1612800"/>
                <a:ext cx="10515600" cy="480640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N=3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 너무 간단한 구조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(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길이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9)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로 쉽게 수렴한다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N=4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 수렴하긴 하지만 최소값인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33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까지 도달하는 경우는 드물다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N=5,6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경우에는 수열이 완성되지 않고 최대길이에 도달해 멈추는 경우만 발생한다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그래서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N=5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경우에 대해서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learning rate, </a:t>
                </a:r>
                <a:r>
                  <a:rPr lang="en-US" altLang="ko-KR" sz="20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time_step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λ</m:t>
                    </m:r>
                  </m:oMath>
                </a14:m>
                <a:r>
                  <a:rPr lang="en-US" altLang="ko-KR" sz="2000" b="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,</a:t>
                </a:r>
                <a:r>
                  <a:rPr lang="en-US" altLang="ko-KR" sz="2000" dirty="0">
                    <a:ea typeface="Noto Sans KR" panose="020B02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𝛼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를</m:t>
                    </m:r>
                  </m:oMath>
                </a14:m>
                <a:r>
                  <a:rPr lang="en-US" altLang="ko-KR" sz="2000" b="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  <a:r>
                  <a:rPr lang="ko-KR" altLang="en-US" sz="2000" b="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수정하고 끝에 도달하지 못한 경우 감점을 부여하고 다시 실험했다</a:t>
                </a:r>
                <a:r>
                  <a:rPr lang="en-US" altLang="ko-KR" sz="2000" b="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ko-KR" sz="20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word_cost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모델은 학습이 안되었지만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symbolic 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은 학습이 되는 모습을 보였다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  <a:endParaRPr lang="en-US" altLang="ko-KR" sz="2000" b="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endParaRPr lang="en-US" altLang="ko-KR" sz="20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ko-KR" altLang="en-US" sz="2000" b="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이 경우 모델이 길이 감점을 피하기 위해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1234 2341 3412 4123 1234 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형태가 반복되는 형태로 </a:t>
                </a:r>
                <a:r>
                  <a:rPr lang="ko-KR" altLang="en-US" sz="20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학습하게된다고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판단하여 중복해서 감점 회피를 막기 위해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masking PPO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로 테스트해보았다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Symbolic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 수렴하였기에 그대로 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N=6</a:t>
                </a:r>
                <a:r>
                  <a:rPr lang="ko-KR" altLang="en-US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의 경우를 실험했다</a:t>
                </a:r>
                <a:r>
                  <a:rPr lang="en-US" altLang="ko-KR" sz="20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</p:txBody>
          </p:sp>
        </mc:Choice>
        <mc:Fallback>
          <p:sp>
            <p:nvSpPr>
              <p:cNvPr id="7" name="내용 개체 틀 4">
                <a:extLst>
                  <a:ext uri="{FF2B5EF4-FFF2-40B4-BE49-F238E27FC236}">
                    <a16:creationId xmlns:a16="http://schemas.microsoft.com/office/drawing/2014/main" id="{B22DD1AC-B038-CA6A-3D97-EF298C2C2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1600" y="1612800"/>
                <a:ext cx="10515600" cy="4806403"/>
              </a:xfrm>
              <a:blipFill>
                <a:blip r:embed="rId4"/>
                <a:stretch>
                  <a:fillRect l="-580" t="-1904" b="-6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E9522269-6107-029A-47BC-EA405E0538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2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4C91-4B21-431D-10A5-31FBA3C5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7063F86-099E-9FD1-428E-0FF48F35502E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n=3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9C2609-233C-FC8F-7E49-55FF5DF1E3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0501207-84C7-4DB9-C830-2FDE83D8D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50231"/>
              </p:ext>
            </p:extLst>
          </p:nvPr>
        </p:nvGraphicFramePr>
        <p:xfrm>
          <a:off x="6096000" y="0"/>
          <a:ext cx="6381055" cy="6916720"/>
        </p:xfrm>
        <a:graphic>
          <a:graphicData uri="http://schemas.openxmlformats.org/drawingml/2006/table">
            <a:tbl>
              <a:tblPr/>
              <a:tblGrid>
                <a:gridCol w="512900">
                  <a:extLst>
                    <a:ext uri="{9D8B030D-6E8A-4147-A177-3AD203B41FA5}">
                      <a16:colId xmlns:a16="http://schemas.microsoft.com/office/drawing/2014/main" val="624485722"/>
                    </a:ext>
                  </a:extLst>
                </a:gridCol>
                <a:gridCol w="512900">
                  <a:extLst>
                    <a:ext uri="{9D8B030D-6E8A-4147-A177-3AD203B41FA5}">
                      <a16:colId xmlns:a16="http://schemas.microsoft.com/office/drawing/2014/main" val="1359889351"/>
                    </a:ext>
                  </a:extLst>
                </a:gridCol>
                <a:gridCol w="512900">
                  <a:extLst>
                    <a:ext uri="{9D8B030D-6E8A-4147-A177-3AD203B41FA5}">
                      <a16:colId xmlns:a16="http://schemas.microsoft.com/office/drawing/2014/main" val="3031801537"/>
                    </a:ext>
                  </a:extLst>
                </a:gridCol>
                <a:gridCol w="1314252">
                  <a:extLst>
                    <a:ext uri="{9D8B030D-6E8A-4147-A177-3AD203B41FA5}">
                      <a16:colId xmlns:a16="http://schemas.microsoft.com/office/drawing/2014/main" val="1917019840"/>
                    </a:ext>
                  </a:extLst>
                </a:gridCol>
                <a:gridCol w="1248413">
                  <a:extLst>
                    <a:ext uri="{9D8B030D-6E8A-4147-A177-3AD203B41FA5}">
                      <a16:colId xmlns:a16="http://schemas.microsoft.com/office/drawing/2014/main" val="3570071639"/>
                    </a:ext>
                  </a:extLst>
                </a:gridCol>
                <a:gridCol w="950204">
                  <a:extLst>
                    <a:ext uri="{9D8B030D-6E8A-4147-A177-3AD203B41FA5}">
                      <a16:colId xmlns:a16="http://schemas.microsoft.com/office/drawing/2014/main" val="3658396849"/>
                    </a:ext>
                  </a:extLst>
                </a:gridCol>
                <a:gridCol w="1329486">
                  <a:extLst>
                    <a:ext uri="{9D8B030D-6E8A-4147-A177-3AD203B41FA5}">
                      <a16:colId xmlns:a16="http://schemas.microsoft.com/office/drawing/2014/main" val="1949383473"/>
                    </a:ext>
                  </a:extLst>
                </a:gridCol>
              </a:tblGrid>
              <a:tr h="759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839769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0.829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4.089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47347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0.829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4.094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995575"/>
                  </a:ext>
                </a:extLst>
              </a:tr>
              <a:tr h="218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-0.9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862185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39.59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0.704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4759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24.937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0.418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539139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0.842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36.294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0.643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700270"/>
                  </a:ext>
                </a:extLst>
              </a:tr>
              <a:tr h="381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31.059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0.541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783062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0.245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409040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46.507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4.029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9.043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188534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39.458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6.011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8.298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340442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986306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0.973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42.02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4.286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9.224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0.908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706063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0.997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45.714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4.122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9.245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60977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0.964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42.571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4.653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9.133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0.918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16077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46.745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4.306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9.255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063824"/>
                  </a:ext>
                </a:extLst>
              </a:tr>
              <a:tr h="39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5.906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5.151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10.624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0.234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102893"/>
                  </a:ext>
                </a:extLst>
              </a:tr>
            </a:tbl>
          </a:graphicData>
        </a:graphic>
      </p:graphicFrame>
      <p:pic>
        <p:nvPicPr>
          <p:cNvPr id="13" name="그림 1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0EEDEB-9190-0C66-36E7-FF4661867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20" y="1488476"/>
            <a:ext cx="5085478" cy="2825265"/>
          </a:xfrm>
          <a:prstGeom prst="rect">
            <a:avLst/>
          </a:prstGeom>
        </p:spPr>
      </p:pic>
      <p:pic>
        <p:nvPicPr>
          <p:cNvPr id="15" name="그림 1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2AD4D4-18DC-6974-524F-305BDD65B6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4" y="4313740"/>
            <a:ext cx="4579666" cy="254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76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C809-840C-794A-439B-CE33541D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14F339B-1206-6AB1-1DA9-B171AA30BE76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n=3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7A92DC-C8BA-DD72-FC0D-03510EB8ED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11" name="그림 10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5E4A41-FB47-106B-B455-36491C160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02" y="1251195"/>
            <a:ext cx="4834606" cy="2762632"/>
          </a:xfrm>
          <a:prstGeom prst="rect">
            <a:avLst/>
          </a:prstGeom>
        </p:spPr>
      </p:pic>
      <p:pic>
        <p:nvPicPr>
          <p:cNvPr id="13" name="그림 1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27EE0-1663-1E98-0F89-246C0EFBA9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3" y="3971146"/>
            <a:ext cx="4751345" cy="2715054"/>
          </a:xfrm>
          <a:prstGeom prst="rect">
            <a:avLst/>
          </a:prstGeom>
        </p:spPr>
      </p:pic>
      <p:pic>
        <p:nvPicPr>
          <p:cNvPr id="16" name="그림 15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6B72D1-A80F-3CFD-11B3-D23D54215B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809" y="3373891"/>
            <a:ext cx="6097191" cy="3484109"/>
          </a:xfrm>
          <a:prstGeom prst="rect">
            <a:avLst/>
          </a:prstGeom>
        </p:spPr>
      </p:pic>
      <p:pic>
        <p:nvPicPr>
          <p:cNvPr id="18" name="그림 17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3E09AB-9F3C-2F28-A991-7B1D8E681D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898" y="360521"/>
            <a:ext cx="5413889" cy="30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1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1267-B3CC-A33C-4007-B935939B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D17DB97-8DC6-7C49-D467-4B81156A2BF0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n=3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008FDB0-E502-9792-7C29-CF135B4F13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6311CE-987C-D917-52EF-AC87BC5CB264}"/>
              </a:ext>
            </a:extLst>
          </p:cNvPr>
          <p:cNvSpPr txBox="1"/>
          <p:nvPr/>
        </p:nvSpPr>
        <p:spPr>
          <a:xfrm>
            <a:off x="935478" y="1710763"/>
            <a:ext cx="1127097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N=3</a:t>
            </a:r>
            <a:r>
              <a:rPr lang="ko-KR" altLang="en-US" dirty="0"/>
              <a:t>의 경우 </a:t>
            </a:r>
            <a:r>
              <a:rPr lang="en-US" altLang="ko-KR" dirty="0"/>
              <a:t>symbolic</a:t>
            </a:r>
            <a:r>
              <a:rPr lang="ko-KR" altLang="en-US" dirty="0"/>
              <a:t>보다 </a:t>
            </a:r>
            <a:r>
              <a:rPr lang="en-US" altLang="ko-KR" dirty="0"/>
              <a:t>word </a:t>
            </a:r>
            <a:r>
              <a:rPr lang="ko-KR" altLang="en-US" dirty="0"/>
              <a:t>기반 방식이 더 성적이 좋았으며</a:t>
            </a:r>
            <a:endParaRPr lang="en-US" altLang="ko-KR" dirty="0"/>
          </a:p>
          <a:p>
            <a:r>
              <a:rPr lang="en-US" altLang="ko-KR" dirty="0"/>
              <a:t>PPO</a:t>
            </a:r>
            <a:r>
              <a:rPr lang="ko-KR" altLang="en-US" dirty="0"/>
              <a:t>가 </a:t>
            </a:r>
            <a:r>
              <a:rPr lang="en-US" altLang="ko-KR" dirty="0"/>
              <a:t>A2C</a:t>
            </a:r>
            <a:r>
              <a:rPr lang="ko-KR" altLang="en-US" dirty="0"/>
              <a:t>보다 높은 경향을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성공</a:t>
            </a:r>
            <a:r>
              <a:rPr lang="en-US" altLang="ko-KR" dirty="0"/>
              <a:t>/</a:t>
            </a:r>
            <a:r>
              <a:rPr lang="ko-KR" altLang="en-US" dirty="0"/>
              <a:t>실패의 기준이 주어진 최대길이 </a:t>
            </a:r>
            <a:r>
              <a:rPr lang="en-US" altLang="ko-KR" dirty="0"/>
              <a:t>(N/2)*n! </a:t>
            </a:r>
            <a:r>
              <a:rPr lang="ko-KR" altLang="en-US" dirty="0"/>
              <a:t>보단 작으며 모든 순열이 나타날 경우 성공이다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Word</a:t>
            </a:r>
            <a:r>
              <a:rPr lang="ko-KR" altLang="en-US" dirty="0"/>
              <a:t>에서 </a:t>
            </a:r>
            <a:r>
              <a:rPr lang="en-US" altLang="ko-KR" dirty="0"/>
              <a:t>Greedy </a:t>
            </a:r>
            <a:r>
              <a:rPr lang="ko-KR" altLang="en-US" dirty="0"/>
              <a:t>방식이 성공률이 매우 높은 것을 보면 단순한 구조에 새로운 순열을 하나하나 </a:t>
            </a:r>
            <a:r>
              <a:rPr lang="ko-KR" altLang="en-US" dirty="0" err="1"/>
              <a:t>넣는것이</a:t>
            </a:r>
            <a:endParaRPr lang="en-US" altLang="ko-KR" dirty="0"/>
          </a:p>
          <a:p>
            <a:r>
              <a:rPr lang="ko-KR" altLang="en-US" dirty="0"/>
              <a:t>높은 전략이라는 뜻이다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symbolic</a:t>
            </a:r>
            <a:r>
              <a:rPr lang="ko-KR" altLang="en-US" dirty="0"/>
              <a:t>의 </a:t>
            </a:r>
            <a:r>
              <a:rPr lang="en-US" altLang="ko-KR" dirty="0"/>
              <a:t>greedy</a:t>
            </a:r>
            <a:r>
              <a:rPr lang="ko-KR" altLang="en-US" dirty="0"/>
              <a:t>는 매우 낮은 성공률을 </a:t>
            </a:r>
            <a:r>
              <a:rPr lang="ko-KR" altLang="en-US" dirty="0" err="1"/>
              <a:t>보인것을</a:t>
            </a:r>
            <a:r>
              <a:rPr lang="ko-KR" altLang="en-US" dirty="0"/>
              <a:t> 보아 에피소드가 짧아 문자로 순열을 만드는 것이 </a:t>
            </a:r>
            <a:endParaRPr lang="en-US" altLang="ko-KR" dirty="0"/>
          </a:p>
          <a:p>
            <a:r>
              <a:rPr lang="ko-KR" altLang="en-US" dirty="0" err="1"/>
              <a:t>학습외지</a:t>
            </a:r>
            <a:r>
              <a:rPr lang="ko-KR" altLang="en-US" dirty="0"/>
              <a:t> 못한 것으로 추측된다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커버리지 범위가 </a:t>
            </a:r>
            <a:r>
              <a:rPr lang="en-US" altLang="ko-KR" dirty="0"/>
              <a:t>a2c</a:t>
            </a:r>
            <a:r>
              <a:rPr lang="ko-KR" altLang="en-US" dirty="0"/>
              <a:t>의 경우 더 이상 커지지 못하고 있는데 이것은 한번도 성공하지 못해 성공 </a:t>
            </a:r>
            <a:r>
              <a:rPr lang="en-US" altLang="ko-KR" dirty="0"/>
              <a:t>reward</a:t>
            </a:r>
          </a:p>
          <a:p>
            <a:r>
              <a:rPr lang="ko-KR" altLang="en-US" dirty="0" err="1"/>
              <a:t>를</a:t>
            </a:r>
            <a:r>
              <a:rPr lang="ko-KR" altLang="en-US" dirty="0"/>
              <a:t> 학습하지 못한 것으로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521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F468-AFB5-0BD8-D892-5C6763E7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3775182-7732-A8A9-10C9-1B15BEA72027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n=4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F264FA-FC13-202D-EB62-56B0C87DE0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7" name="그림 6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0A034F-0E54-0F2C-A053-C727C2B74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3" y="1366015"/>
            <a:ext cx="5114162" cy="2841201"/>
          </a:xfrm>
          <a:prstGeom prst="rect">
            <a:avLst/>
          </a:prstGeom>
        </p:spPr>
      </p:pic>
      <p:pic>
        <p:nvPicPr>
          <p:cNvPr id="11" name="그림 10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23BCEF-5AFC-5D5E-27F5-6F94DC949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4" y="4207216"/>
            <a:ext cx="4530502" cy="2516946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701BD93-5BEE-D713-CBD6-20EB254B2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777103"/>
              </p:ext>
            </p:extLst>
          </p:nvPr>
        </p:nvGraphicFramePr>
        <p:xfrm>
          <a:off x="6294451" y="114074"/>
          <a:ext cx="5720512" cy="5654424"/>
        </p:xfrm>
        <a:graphic>
          <a:graphicData uri="http://schemas.openxmlformats.org/drawingml/2006/table">
            <a:tbl>
              <a:tblPr/>
              <a:tblGrid>
                <a:gridCol w="817216">
                  <a:extLst>
                    <a:ext uri="{9D8B030D-6E8A-4147-A177-3AD203B41FA5}">
                      <a16:colId xmlns:a16="http://schemas.microsoft.com/office/drawing/2014/main" val="2727027380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933813098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2633538194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2506815677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3653336631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1264841684"/>
                    </a:ext>
                  </a:extLst>
                </a:gridCol>
                <a:gridCol w="817216">
                  <a:extLst>
                    <a:ext uri="{9D8B030D-6E8A-4147-A177-3AD203B41FA5}">
                      <a16:colId xmlns:a16="http://schemas.microsoft.com/office/drawing/2014/main" val="3508097824"/>
                    </a:ext>
                  </a:extLst>
                </a:gridCol>
              </a:tblGrid>
              <a:tr h="4132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618791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33.645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45.3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45.3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0.338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086612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37.11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44.218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44.218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0.403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131022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-4.8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005569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0.898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42.705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43.663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43.663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586568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46.465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42.592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42.592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0.571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703390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0.855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38.582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43.878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43.878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0.449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005358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0.895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46.838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42.337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42.337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0.592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381116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-0.959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784891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-4.521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69.446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6.196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342552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0.062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-4.121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70.187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5.605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22677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35385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51.531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24.143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11212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10.214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19.939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40.235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0.582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8276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0.676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-11.143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30.235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37.571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0.204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94137"/>
                  </a:ext>
                </a:extLst>
              </a:tr>
              <a:tr h="360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0.937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12.582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16.949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42.051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0.643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819158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0.679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-34.024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15.037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50.327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28577" marR="28577" marT="19051" marB="1905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6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782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3F04-27B9-6D6E-1D7E-944D64ED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73381-3D73-44AB-655B-95E049AD1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81F27A1-5A31-E62E-1FD0-E3E7D347BA69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n=4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DA5E11A-7B53-6848-C749-863DB5BFF2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6" name="그림 5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6ACCD2-8A1D-51F3-A14D-3A50647B95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21" y="3210459"/>
            <a:ext cx="5910182" cy="3377246"/>
          </a:xfrm>
          <a:prstGeom prst="rect">
            <a:avLst/>
          </a:prstGeom>
        </p:spPr>
      </p:pic>
      <p:pic>
        <p:nvPicPr>
          <p:cNvPr id="8" name="그림 7" descr="텍스트, 스크린샷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8D57A6-476A-1722-FD28-A0B6AE60DE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15" y="107798"/>
            <a:ext cx="5429657" cy="3102661"/>
          </a:xfrm>
          <a:prstGeom prst="rect">
            <a:avLst/>
          </a:prstGeom>
        </p:spPr>
      </p:pic>
      <p:pic>
        <p:nvPicPr>
          <p:cNvPr id="10" name="그림 9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DC30DB-4813-F67F-DE55-8731721F36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407" y="188640"/>
            <a:ext cx="6400813" cy="3657607"/>
          </a:xfrm>
          <a:prstGeom prst="rect">
            <a:avLst/>
          </a:prstGeom>
        </p:spPr>
      </p:pic>
      <p:pic>
        <p:nvPicPr>
          <p:cNvPr id="12" name="그림 11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BEBB3E-E54D-27DA-A95F-53670FD993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731" y="3399099"/>
            <a:ext cx="6112164" cy="349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45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91EB-2870-17B7-FBF2-1CBE7B2D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CC133-842F-433A-66C6-E5EAF3D42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-9728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897931A-7805-4A30-7BD2-52672775CE9C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n=4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955D488-528A-8D55-A6F0-292BF60ECC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D1746-3332-9602-649A-41B3157BE49A}"/>
              </a:ext>
            </a:extLst>
          </p:cNvPr>
          <p:cNvSpPr txBox="1"/>
          <p:nvPr/>
        </p:nvSpPr>
        <p:spPr>
          <a:xfrm>
            <a:off x="1112619" y="1701035"/>
            <a:ext cx="98796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Greedy</a:t>
            </a:r>
            <a:r>
              <a:rPr lang="ko-KR" altLang="en-US" dirty="0"/>
              <a:t>의 경우는 </a:t>
            </a:r>
            <a:r>
              <a:rPr lang="en-US" altLang="ko-KR" dirty="0"/>
              <a:t>n=3</a:t>
            </a:r>
            <a:r>
              <a:rPr lang="ko-KR" altLang="en-US" dirty="0"/>
              <a:t>와 동일하나 </a:t>
            </a:r>
            <a:r>
              <a:rPr lang="en-US" altLang="ko-KR" dirty="0"/>
              <a:t>a2c</a:t>
            </a:r>
            <a:r>
              <a:rPr lang="ko-KR" altLang="en-US" dirty="0"/>
              <a:t>의 경우는 정 반대 상황이 되었다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33</a:t>
            </a:r>
            <a:r>
              <a:rPr lang="ko-KR" altLang="en-US" dirty="0"/>
              <a:t>길이의 초순열을 만드는데 있어서 </a:t>
            </a:r>
            <a:r>
              <a:rPr lang="en-US" altLang="ko-KR" dirty="0"/>
              <a:t>9</a:t>
            </a:r>
            <a:r>
              <a:rPr lang="ko-KR" altLang="en-US" dirty="0"/>
              <a:t>개였을 때보다 복잡해지고 길어져 </a:t>
            </a:r>
            <a:endParaRPr lang="en-US" altLang="ko-KR" dirty="0"/>
          </a:p>
          <a:p>
            <a:r>
              <a:rPr lang="en-US" altLang="ko-KR" dirty="0"/>
              <a:t>Word</a:t>
            </a:r>
            <a:r>
              <a:rPr lang="ko-KR" altLang="en-US" dirty="0"/>
              <a:t>방식은 전반적으로 낮아지고 </a:t>
            </a:r>
            <a:r>
              <a:rPr lang="en-US" altLang="ko-KR" dirty="0"/>
              <a:t>symbolic</a:t>
            </a:r>
            <a:r>
              <a:rPr lang="ko-KR" altLang="en-US" dirty="0"/>
              <a:t>의 경우는 크게 변하지는 않았다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커버리지가 </a:t>
            </a:r>
            <a:r>
              <a:rPr lang="en-US" altLang="ko-KR" dirty="0"/>
              <a:t>word</a:t>
            </a:r>
            <a:r>
              <a:rPr lang="ko-KR" altLang="en-US" dirty="0"/>
              <a:t>에선 오히려 낮아지는 경향을 보여 </a:t>
            </a:r>
            <a:endParaRPr lang="en-US" altLang="ko-KR" dirty="0"/>
          </a:p>
          <a:p>
            <a:r>
              <a:rPr lang="en-US" altLang="ko-KR" dirty="0"/>
              <a:t>A2C</a:t>
            </a:r>
            <a:r>
              <a:rPr lang="ko-KR" altLang="en-US" dirty="0"/>
              <a:t>가 잘못된 학습을 </a:t>
            </a:r>
            <a:r>
              <a:rPr lang="ko-KR" altLang="en-US" dirty="0" err="1"/>
              <a:t>했을때</a:t>
            </a:r>
            <a:r>
              <a:rPr lang="en-US" altLang="ko-KR" dirty="0"/>
              <a:t>(</a:t>
            </a:r>
            <a:r>
              <a:rPr lang="ko-KR" altLang="en-US" dirty="0"/>
              <a:t>감점을 회피하려 중복되는 순열만 </a:t>
            </a:r>
            <a:r>
              <a:rPr lang="ko-KR" altLang="en-US" dirty="0" err="1"/>
              <a:t>선택할경우</a:t>
            </a:r>
            <a:r>
              <a:rPr lang="en-US" altLang="ko-KR" dirty="0"/>
              <a:t>) local minimum</a:t>
            </a:r>
            <a:r>
              <a:rPr lang="ko-KR" altLang="en-US" dirty="0"/>
              <a:t>에</a:t>
            </a:r>
            <a:endParaRPr lang="en-US" altLang="ko-KR" dirty="0"/>
          </a:p>
          <a:p>
            <a:r>
              <a:rPr lang="ko-KR" altLang="en-US" dirty="0"/>
              <a:t>갇히거나 실수를 학습한 영향이 </a:t>
            </a:r>
            <a:r>
              <a:rPr lang="ko-KR" altLang="en-US" dirty="0" err="1"/>
              <a:t>큰것으로</a:t>
            </a:r>
            <a:r>
              <a:rPr lang="ko-KR" altLang="en-US" dirty="0"/>
              <a:t> 보인다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653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52471-4C5E-E9CA-7A05-115B54BD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0B4C0-5522-B8CF-A60F-DC0E42F74102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97D1DF-7B95-9DAE-810B-A3052F5549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15" name="그림 14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4A960C-C4DB-7E4E-9390-A56632F37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57" y="1324782"/>
            <a:ext cx="4011044" cy="2674029"/>
          </a:xfrm>
          <a:prstGeom prst="rect">
            <a:avLst/>
          </a:prstGeom>
        </p:spPr>
      </p:pic>
      <p:pic>
        <p:nvPicPr>
          <p:cNvPr id="19" name="그림 18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20C7CE-3EC0-C9F9-5B83-0B4F4027ED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62" y="4045286"/>
            <a:ext cx="4011044" cy="2674029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2D13D4F-D05B-3817-8AA9-50184A106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263570"/>
              </p:ext>
            </p:extLst>
          </p:nvPr>
        </p:nvGraphicFramePr>
        <p:xfrm>
          <a:off x="6361889" y="481340"/>
          <a:ext cx="4671009" cy="5653840"/>
        </p:xfrm>
        <a:graphic>
          <a:graphicData uri="http://schemas.openxmlformats.org/drawingml/2006/table">
            <a:tbl>
              <a:tblPr/>
              <a:tblGrid>
                <a:gridCol w="667287">
                  <a:extLst>
                    <a:ext uri="{9D8B030D-6E8A-4147-A177-3AD203B41FA5}">
                      <a16:colId xmlns:a16="http://schemas.microsoft.com/office/drawing/2014/main" val="4051531359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3342310011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810542833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813478595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696962095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1130564580"/>
                    </a:ext>
                  </a:extLst>
                </a:gridCol>
                <a:gridCol w="667287">
                  <a:extLst>
                    <a:ext uri="{9D8B030D-6E8A-4147-A177-3AD203B41FA5}">
                      <a16:colId xmlns:a16="http://schemas.microsoft.com/office/drawing/2014/main" val="3426052510"/>
                    </a:ext>
                  </a:extLst>
                </a:gridCol>
              </a:tblGrid>
              <a:tr h="3622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706928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0.587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249.273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67033"/>
                  </a:ext>
                </a:extLst>
              </a:tr>
              <a:tr h="2201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-103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449076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0.46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173.234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96585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0.515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206.253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273689"/>
                  </a:ext>
                </a:extLst>
              </a:tr>
              <a:tr h="2201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0.091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-48.586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382617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0.614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207.812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64.301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303.182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12282"/>
                  </a:ext>
                </a:extLst>
              </a:tr>
              <a:tr h="2201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769.4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153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60131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0.615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208.206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65.701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302.799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902133"/>
                  </a:ext>
                </a:extLst>
              </a:tr>
              <a:tr h="646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0.666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239.399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76.929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302.357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463206"/>
                  </a:ext>
                </a:extLst>
              </a:tr>
              <a:tr h="2201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0.616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209.067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66.071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302.89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50208" marR="50208" marT="33472" marB="3347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84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49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81D7-4328-4CE1-E9AB-DD210D10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D6363F-56AA-D3CA-C106-6C53ED9A8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1227F1D-8907-CA64-16BC-C2D334797FFF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BB4864-7ED9-6F4F-679E-52C8E99D45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12" name="그림 11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E548E4-058B-06E2-AB93-213EACD5CF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85" y="1241320"/>
            <a:ext cx="5010199" cy="2862970"/>
          </a:xfrm>
          <a:prstGeom prst="rect">
            <a:avLst/>
          </a:prstGeom>
        </p:spPr>
      </p:pic>
      <p:pic>
        <p:nvPicPr>
          <p:cNvPr id="14" name="그림 13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C1BC2B-CDE5-8871-1F0A-12E3456916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29" y="3995029"/>
            <a:ext cx="5010199" cy="2862971"/>
          </a:xfrm>
          <a:prstGeom prst="rect">
            <a:avLst/>
          </a:prstGeom>
        </p:spPr>
      </p:pic>
      <p:pic>
        <p:nvPicPr>
          <p:cNvPr id="16" name="그림 15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4C3B60-3B47-F1CB-1114-E398DE5578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618" y="3889926"/>
            <a:ext cx="5010199" cy="2862971"/>
          </a:xfrm>
          <a:prstGeom prst="rect">
            <a:avLst/>
          </a:prstGeom>
        </p:spPr>
      </p:pic>
      <p:pic>
        <p:nvPicPr>
          <p:cNvPr id="18" name="그림 17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08B5F0-6CFE-D4BE-FF2E-25D393BCD0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62" y="513478"/>
            <a:ext cx="5010199" cy="286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63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E327-92F0-B5C1-ACAF-CB858FE9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554FAB-9A1E-950F-74F9-EE79C1A25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B032623-8AB4-2E94-14D4-3EAE5F23A3EA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D504EC-15C2-0E96-0C9E-E648D4FCBF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C9E58-FF9F-9EF4-3298-2B290A4A1DED}"/>
                  </a:ext>
                </a:extLst>
              </p:cNvPr>
              <p:cNvSpPr txBox="1"/>
              <p:nvPr/>
            </p:nvSpPr>
            <p:spPr>
              <a:xfrm>
                <a:off x="1199297" y="1556464"/>
                <a:ext cx="8538090" cy="5786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이번 경우는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word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의 그리드 방식은 성공률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최대길이 이내에 모든 순열 등장확률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)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은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로 매우 높은 것에 비해 다른 모든 방식은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을 기록했다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이것은 그리드 방식이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word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를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추가하며 최대 이득을 위해 모든 순열을 넣는 방식으로  최소 길이인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153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에 도달하였다는 것이다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 Symbolic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이 도달하지 못한 것은 단어를 완성시키기에는 학습이 짧았던 것으로 추측된다</a:t>
                </a:r>
                <a:endParaRPr lang="en-US" altLang="ko-KR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A2C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는 학습으로 값이 거의 변하지 않아 너무 학습이 짧은 것일 수 있으며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현재 문제에 적합하지 않다고 판단하였다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혹은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N=5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의 경우 초순열이 유일하지 않은 영향일수도 있겠다는 가능성도 있다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다만 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PPO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는 상승하는 경향을 보여 추가적으로 파라미터를 조정해 실험한다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  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이는 적극적으로 탐사하지 </a:t>
                </a:r>
                <a:r>
                  <a:rPr lang="ko-KR" altLang="en-US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않는것이라</a:t>
                </a:r>
                <a:r>
                  <a:rPr lang="ko-KR" alt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판단해 이하로 수정하였다</a:t>
                </a:r>
                <a:r>
                  <a:rPr lang="en-US" altLang="ko-KR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  <a:endParaRPr lang="en-US" altLang="ko-KR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ko-KR" altLang="en-US" sz="1200" b="0" i="0" u="none" strike="noStrike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러닝레이트</a:t>
                </a:r>
                <a:r>
                  <a:rPr lang="en-US" altLang="ko-KR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:</a:t>
                </a:r>
                <a:r>
                  <a:rPr lang="en-US" altLang="ko-KR" sz="1200" dirty="0"/>
                  <a:t> 2e-4/ seed 0, 42,100,</a:t>
                </a:r>
                <a:r>
                  <a:rPr lang="ko-KR" altLang="en-US" sz="12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타임스텝</a:t>
                </a:r>
                <a:r>
                  <a:rPr lang="en-US" altLang="ko-KR" sz="12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:2200000,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λ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=0.01</m:t>
                    </m:r>
                  </m:oMath>
                </a14:m>
                <a:r>
                  <a:rPr lang="en-US" altLang="ko-KR" sz="12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,</a:t>
                </a:r>
                <a:r>
                  <a:rPr lang="en-US" altLang="ko-KR" sz="1200" dirty="0">
                    <a:ea typeface="Noto Sans KR" panose="020B02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𝛼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=5</m:t>
                    </m:r>
                    <m:r>
                      <a:rPr lang="en-US" altLang="ko-KR" sz="120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 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  <a:ea typeface="Noto Sans KR" panose="020B0200000000000000" pitchFamily="34" charset="-128"/>
                      </a:rPr>
                      <m:t>,</m:t>
                    </m:r>
                  </m:oMath>
                </a14:m>
                <a:r>
                  <a:rPr lang="en-US" altLang="ko-KR" sz="12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truncated </a:t>
                </a:r>
                <a:r>
                  <a:rPr lang="ko-KR" altLang="en-US" sz="12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할 시 </a:t>
                </a:r>
                <a:r>
                  <a:rPr lang="en-US" altLang="ko-KR" sz="12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reward-=100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ko-KR" altLang="en-US" sz="1200" b="0" dirty="0">
                    <a:effectLst/>
                  </a:rPr>
                  <a:t>실험 </a:t>
                </a:r>
                <a:r>
                  <a:rPr lang="en-US" altLang="ko-KR" sz="1200" b="0" dirty="0">
                    <a:effectLst/>
                  </a:rPr>
                  <a:t>(n=5_reward </a:t>
                </a:r>
                <a:r>
                  <a:rPr lang="ko-KR" altLang="en-US" sz="1200" b="0" dirty="0">
                    <a:effectLst/>
                  </a:rPr>
                  <a:t>개선</a:t>
                </a:r>
                <a:r>
                  <a:rPr lang="en-US" altLang="ko-KR" sz="1200" b="0" dirty="0">
                    <a:effectLst/>
                  </a:rPr>
                  <a:t>)</a:t>
                </a:r>
                <a:endParaRPr lang="ko-KR" altLang="en-US" sz="1200" b="0" dirty="0">
                  <a:effectLst/>
                </a:endParaRPr>
              </a:p>
              <a:p>
                <a:pPr>
                  <a:buNone/>
                </a:pP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C9E58-FF9F-9EF4-3298-2B290A4A1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297" y="1556464"/>
                <a:ext cx="8538090" cy="5786199"/>
              </a:xfrm>
              <a:prstGeom prst="rect">
                <a:avLst/>
              </a:prstGeom>
              <a:blipFill>
                <a:blip r:embed="rId5"/>
                <a:stretch>
                  <a:fillRect l="-643" t="-526" r="-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005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0E43-66E2-98EC-ECEC-E097BD84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C8E442A-82FD-C743-53AA-8048B97E4F14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n=6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495F64-AC3E-AC94-1177-405759DB9D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10" name="내용 개체 틀 9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6ED32D-0F27-34F2-3632-A7D01EDDA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3" y="1336427"/>
            <a:ext cx="4826124" cy="2681180"/>
          </a:xfrm>
        </p:spPr>
      </p:pic>
      <p:pic>
        <p:nvPicPr>
          <p:cNvPr id="14" name="그림 1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12FB99-4269-5755-1436-D508521F11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57" y="4114800"/>
            <a:ext cx="4114800" cy="2743200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1DC8C4F-6CAF-EE22-4189-861F1F8AD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759791"/>
              </p:ext>
            </p:extLst>
          </p:nvPr>
        </p:nvGraphicFramePr>
        <p:xfrm>
          <a:off x="7746073" y="679535"/>
          <a:ext cx="3416000" cy="5107764"/>
        </p:xfrm>
        <a:graphic>
          <a:graphicData uri="http://schemas.openxmlformats.org/drawingml/2006/table">
            <a:tbl>
              <a:tblPr/>
              <a:tblGrid>
                <a:gridCol w="488000">
                  <a:extLst>
                    <a:ext uri="{9D8B030D-6E8A-4147-A177-3AD203B41FA5}">
                      <a16:colId xmlns:a16="http://schemas.microsoft.com/office/drawing/2014/main" val="1753389378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3461315251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1116695366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2044226225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519796308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3232665274"/>
                    </a:ext>
                  </a:extLst>
                </a:gridCol>
                <a:gridCol w="488000">
                  <a:extLst>
                    <a:ext uri="{9D8B030D-6E8A-4147-A177-3AD203B41FA5}">
                      <a16:colId xmlns:a16="http://schemas.microsoft.com/office/drawing/2014/main" val="1256238618"/>
                    </a:ext>
                  </a:extLst>
                </a:gridCol>
              </a:tblGrid>
              <a:tr h="1843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71792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-144.277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334488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0.098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-145.088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22176"/>
                  </a:ext>
                </a:extLst>
              </a:tr>
              <a:tr h="112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greedy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-216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727154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-36.092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671670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0.359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42.582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479359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0.228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-51.878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36108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0.341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29.51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422802"/>
                  </a:ext>
                </a:extLst>
              </a:tr>
              <a:tr h="112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0.045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-183.477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279432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0.033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-167.622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2014.32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191.39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79170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a2c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0.025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-164.435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2030.34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182.354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40460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0.425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-1521.8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789.694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1827.47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46028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0.164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-775.867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1526.11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893.837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621711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0.515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-1784.34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435.929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2154.82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68093"/>
                  </a:ext>
                </a:extLst>
              </a:tr>
              <a:tr h="32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0.167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-756.143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1536.66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876.633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30051" marR="30051" marT="20034" marB="2003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671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204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D63B-BBAD-C201-5754-72D3BAAB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FAAF12-E285-C30C-9184-457497153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40C03C3-6F01-0919-9B2C-A90083C536DE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n=6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0C8D739-B254-FC96-7432-AE01A26194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7" name="내용 개체 틀 6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440C91-AF90-3FA5-914D-A0DFBB48F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13" y="1220762"/>
            <a:ext cx="4960792" cy="2834738"/>
          </a:xfrm>
        </p:spPr>
      </p:pic>
      <p:pic>
        <p:nvPicPr>
          <p:cNvPr id="9" name="그림 8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9DD4BE-6346-78F0-72F2-0E948CB09B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03" y="3971977"/>
            <a:ext cx="4866611" cy="2780920"/>
          </a:xfrm>
          <a:prstGeom prst="rect">
            <a:avLst/>
          </a:prstGeom>
        </p:spPr>
      </p:pic>
      <p:pic>
        <p:nvPicPr>
          <p:cNvPr id="15" name="그림 1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8FC060-6A1E-8670-6DB1-4E102AB7D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970" y="950391"/>
            <a:ext cx="5061062" cy="2892035"/>
          </a:xfrm>
          <a:prstGeom prst="rect">
            <a:avLst/>
          </a:prstGeom>
        </p:spPr>
      </p:pic>
      <p:pic>
        <p:nvPicPr>
          <p:cNvPr id="17" name="그림 16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1A770-4717-D34E-F305-9B67AF4598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620" y="3565499"/>
            <a:ext cx="5372723" cy="30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10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5F3FA-87D4-350E-9F03-96F76F4B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C258D-084D-00F9-2DC4-CBD4365F8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28FEA4B-E4F9-74DB-958A-9BB5376EE60F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n=6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8F6841F-474F-1D51-16B5-56366B991C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DACBE8D9-347D-9EBB-8747-9E46C5029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806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경우 모든 알고리즘이 한번도 성공하지 못했다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870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개 정도의 긴 초순열이라 단순히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greedy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로도 접근하지 못한 것이다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다만 여기서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PPO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A2C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의 차이점이 드러난다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PPO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는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커버리지를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넓혀가며 최종길이를 줄이지만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A2C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는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커버리지를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줄여가며 길이를 줄인다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A2C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가 그저 동일한 이미 본 순열들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(1234, 2341, 3412, 4123)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만 반복해서 선택하는 정책을 학습했다고 볼 수 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감점을 피하기 위한 액션만 하게 된다고 볼 수 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커질수록 처음 순환하는 동안 점수를 얻는 구간이 길어져 다른 시도를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안하게된다고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볼 수 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경우 성공 리턴을 얻기 매우 힘들어지고 리워드가 낮아지게 된다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이런 특성은 단어기반에서 더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큰것으로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보인다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PPO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의 경우는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에서는 커버리지가 증가하지만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word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방식에서는 감소한다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word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로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액션하는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행위가 위에 말한 것을 더 하기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쉽게하는것으로도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보이며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은 탐색공간도 작아 탐사하기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쉬운것이라고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생각된다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이는 높은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선택공간 측면에서도 더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좋을것이라는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걸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예측할수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다만 최종 길이가 모두 동일한 것은 초순열을 만들기 전에 최대 길이에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도달한것으로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생각된다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그러므로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Word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방식은 동일할 선택을 막는 강제성을 두고 실험할 것이다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실험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(n=5_masking PPO </a:t>
            </a:r>
            <a:r>
              <a:rPr lang="en-US" altLang="ko-KR" sz="14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word_cost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</a:p>
          <a:p>
            <a:pPr marL="0" indent="0">
              <a:buNone/>
            </a:pP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또한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방식은 길이를 늘리고 리워드를 수정하여 실험한다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실험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(n=6_</a:t>
            </a:r>
            <a:r>
              <a:rPr lang="ko-KR" altLang="en-US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리워드 개선 </a:t>
            </a:r>
            <a:r>
              <a:rPr lang="en-US" altLang="ko-KR" sz="1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symbolic)</a:t>
            </a:r>
          </a:p>
          <a:p>
            <a:pPr marL="0" indent="0">
              <a:buNone/>
            </a:pP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4202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69D1-DFAF-D1DE-8925-4618E12F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64A0C-7570-2C92-1BEC-9014B532C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8249A52-C745-A429-8DFE-B0E8799FD882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n=5_reward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D5604D8-4F22-7F2E-AB99-C7D1BFEC7B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14" name="내용 개체 틀 1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72C5A7-5945-6989-E23D-FB7780D56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46" y="1340804"/>
            <a:ext cx="3416235" cy="3060991"/>
          </a:xfrm>
        </p:spPr>
      </p:pic>
      <p:pic>
        <p:nvPicPr>
          <p:cNvPr id="16" name="그림 15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675ADF-738C-947E-6D37-AC6D3D5F49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746" y="1101909"/>
            <a:ext cx="2745863" cy="2929927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297CC25-F8A1-B2E4-8ECB-A0A57076F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464921"/>
              </p:ext>
            </p:extLst>
          </p:nvPr>
        </p:nvGraphicFramePr>
        <p:xfrm>
          <a:off x="1708117" y="4291127"/>
          <a:ext cx="6945372" cy="2237158"/>
        </p:xfrm>
        <a:graphic>
          <a:graphicData uri="http://schemas.openxmlformats.org/drawingml/2006/table">
            <a:tbl>
              <a:tblPr/>
              <a:tblGrid>
                <a:gridCol w="992196">
                  <a:extLst>
                    <a:ext uri="{9D8B030D-6E8A-4147-A177-3AD203B41FA5}">
                      <a16:colId xmlns:a16="http://schemas.microsoft.com/office/drawing/2014/main" val="267292078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4256571102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3963904804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2435450726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786429366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4064324745"/>
                    </a:ext>
                  </a:extLst>
                </a:gridCol>
                <a:gridCol w="992196">
                  <a:extLst>
                    <a:ext uri="{9D8B030D-6E8A-4147-A177-3AD203B41FA5}">
                      <a16:colId xmlns:a16="http://schemas.microsoft.com/office/drawing/2014/main" val="1906465444"/>
                    </a:ext>
                  </a:extLst>
                </a:gridCol>
              </a:tblGrid>
              <a:tr h="4052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48474"/>
                  </a:ext>
                </a:extLst>
              </a:tr>
              <a:tr h="722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410.835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293.489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293.489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0.109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621136"/>
                  </a:ext>
                </a:extLst>
              </a:tr>
              <a:tr h="722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0.664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244.336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480.966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270.221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19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70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78AA0-493B-117E-D4DA-8691A2D7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E0F2A3-8B9C-0B27-7F1A-39B478BAA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B48270C-54ED-6FDF-20A1-8A93C596C903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n=5_reward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E9476F-6FB2-6DD3-CADB-B2C33820D55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2090DB-A3CF-079B-6ED6-0CFFC2A3A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4" y="1381515"/>
            <a:ext cx="4587480" cy="2621417"/>
          </a:xfrm>
          <a:prstGeom prst="rect">
            <a:avLst/>
          </a:prstGeom>
        </p:spPr>
      </p:pic>
      <p:pic>
        <p:nvPicPr>
          <p:cNvPr id="8" name="그림 7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DCED22-AAEB-E32C-73E8-0D66803C2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28" y="3978613"/>
            <a:ext cx="4885729" cy="2791845"/>
          </a:xfrm>
          <a:prstGeom prst="rect">
            <a:avLst/>
          </a:prstGeom>
        </p:spPr>
      </p:pic>
      <p:pic>
        <p:nvPicPr>
          <p:cNvPr id="10" name="그림 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C9847A-0C3B-BE7B-C9AE-13EB4B3EA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00" y="1047981"/>
            <a:ext cx="4928281" cy="2816160"/>
          </a:xfrm>
          <a:prstGeom prst="rect">
            <a:avLst/>
          </a:prstGeom>
        </p:spPr>
      </p:pic>
      <p:pic>
        <p:nvPicPr>
          <p:cNvPr id="13" name="그림 12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54619B-7864-019B-01AE-3F412C1A35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00" y="4041840"/>
            <a:ext cx="4928281" cy="28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62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5F10-7357-F141-F9FF-880275BB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6F356C-540A-D978-E05E-A29FA4C22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D247C2B-B60B-DDBE-03D4-B13BB6CAC852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n=5_reward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6A9C8E2-D755-44CC-28D2-30F612DE32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59758673-BB4D-DC15-D864-831D82493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스텝을 늘리고 </a:t>
            </a:r>
            <a:r>
              <a:rPr lang="en-US" altLang="ko-KR" sz="2000" dirty="0" err="1"/>
              <a:t>truncted</a:t>
            </a:r>
            <a:r>
              <a:rPr lang="ko-KR" altLang="en-US" sz="2000" dirty="0"/>
              <a:t>에 심한 감점을 두었으나 </a:t>
            </a:r>
            <a:r>
              <a:rPr lang="en-US" altLang="ko-KR" sz="2000" dirty="0"/>
              <a:t>word</a:t>
            </a:r>
            <a:r>
              <a:rPr lang="ko-KR" altLang="en-US" sz="2000" dirty="0"/>
              <a:t> 방식에서 여전히 동일하게 반복하는 듯한 그래프 형태를 보여준다</a:t>
            </a:r>
            <a:r>
              <a:rPr lang="en-US" altLang="ko-KR" sz="2000" dirty="0"/>
              <a:t>. Symbolic</a:t>
            </a:r>
            <a:r>
              <a:rPr lang="ko-KR" altLang="en-US" sz="2000" dirty="0"/>
              <a:t>의 경우 </a:t>
            </a:r>
            <a:r>
              <a:rPr lang="ko-KR" altLang="en-US" sz="2000" dirty="0" err="1"/>
              <a:t>커버리지를</a:t>
            </a:r>
            <a:r>
              <a:rPr lang="ko-KR" altLang="en-US" sz="2000" dirty="0"/>
              <a:t> 늘려가며 길이를 줄여 성공 사례도 존재한다</a:t>
            </a:r>
            <a:r>
              <a:rPr lang="en-US" altLang="ko-KR" sz="2000" dirty="0"/>
              <a:t>. </a:t>
            </a:r>
            <a:r>
              <a:rPr lang="ko-KR" altLang="en-US" sz="2000" dirty="0"/>
              <a:t>이 실험에서는 </a:t>
            </a:r>
            <a:r>
              <a:rPr lang="en-US" altLang="ko-KR" sz="2000" dirty="0"/>
              <a:t>word  </a:t>
            </a:r>
            <a:r>
              <a:rPr lang="ko-KR" altLang="en-US" sz="2000" dirty="0"/>
              <a:t>방식은 동일한 선택을 </a:t>
            </a:r>
            <a:r>
              <a:rPr lang="ko-KR" altLang="en-US" sz="2000" dirty="0" err="1"/>
              <a:t>방지해야한다는</a:t>
            </a:r>
            <a:r>
              <a:rPr lang="ko-KR" altLang="en-US" sz="2000" dirty="0"/>
              <a:t> 것을 알 수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6602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D8A9-40E3-9027-F595-F761C8FF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D2A88-B2C3-319A-42AC-951945D47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C5CE48A-75FF-6B94-DDBE-354F8834A244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n=5_masking PPO </a:t>
            </a:r>
            <a:r>
              <a:rPr lang="en-US" altLang="ko-KR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word_cost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B11A72-1406-6FAA-14B4-565D2A6544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7" name="그림 6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4868AD-EE42-90AB-F8AA-16DE79CE09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8674"/>
            <a:ext cx="3679013" cy="2452675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B456FFF-93B9-2800-C3E5-41815434A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00580"/>
              </p:ext>
            </p:extLst>
          </p:nvPr>
        </p:nvGraphicFramePr>
        <p:xfrm>
          <a:off x="688164" y="5147236"/>
          <a:ext cx="9201150" cy="94488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402831733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0836971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0723857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28113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6017285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0272066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808952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66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word_cost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maskable_ppo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0.932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429.231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64.539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301.904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991517"/>
                  </a:ext>
                </a:extLst>
              </a:tr>
            </a:tbl>
          </a:graphicData>
        </a:graphic>
      </p:graphicFrame>
      <p:pic>
        <p:nvPicPr>
          <p:cNvPr id="10" name="그림 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6BAB45-B8AD-02FE-AB00-CAB6C5802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302" y="1878580"/>
            <a:ext cx="4292182" cy="2452675"/>
          </a:xfrm>
          <a:prstGeom prst="rect">
            <a:avLst/>
          </a:prstGeom>
        </p:spPr>
      </p:pic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4D70FA-B8D5-5873-DBA8-9618A734FC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484" y="1828486"/>
            <a:ext cx="4467516" cy="25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63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CAD7-7A3F-B8E4-9773-6C6477C7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F4E702-F10A-C3D5-8873-AD7EBF6C7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E8B299B-69D1-6653-887A-0D4D4ABD66F4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n=5_masking PPO </a:t>
            </a:r>
            <a:r>
              <a:rPr lang="en-US" altLang="ko-KR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word_cost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4832282-156B-CB89-BE6F-73745479947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4BF21E-FF54-4B39-C2CF-12BFC748D0C7}"/>
              </a:ext>
            </a:extLst>
          </p:cNvPr>
          <p:cNvSpPr txBox="1"/>
          <p:nvPr/>
        </p:nvSpPr>
        <p:spPr>
          <a:xfrm>
            <a:off x="378433" y="2068389"/>
            <a:ext cx="115371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 경우 </a:t>
            </a:r>
            <a:r>
              <a:rPr lang="en-US" altLang="ko-KR" dirty="0"/>
              <a:t>symbolic</a:t>
            </a:r>
            <a:r>
              <a:rPr lang="ko-KR" altLang="en-US" dirty="0"/>
              <a:t>처럼 학습이 되며 커버리지가 </a:t>
            </a:r>
            <a:r>
              <a:rPr lang="ko-KR" altLang="en-US" dirty="0" err="1"/>
              <a:t>줄지않고</a:t>
            </a:r>
            <a:r>
              <a:rPr lang="ko-KR" altLang="en-US" dirty="0"/>
              <a:t> 성공까지 하는 모습을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action space</a:t>
            </a:r>
            <a:r>
              <a:rPr lang="ko-KR" altLang="en-US" dirty="0"/>
              <a:t>가 커서인지 </a:t>
            </a:r>
            <a:r>
              <a:rPr lang="en-US" altLang="ko-KR" dirty="0"/>
              <a:t>learning rate</a:t>
            </a:r>
            <a:r>
              <a:rPr lang="ko-KR" altLang="en-US" dirty="0"/>
              <a:t>가 높아서 인지 학습에 굉장히 불안정한 모습을 </a:t>
            </a:r>
            <a:endParaRPr lang="en-US" altLang="ko-KR" dirty="0"/>
          </a:p>
          <a:p>
            <a:r>
              <a:rPr lang="ko-KR" altLang="en-US" dirty="0"/>
              <a:t>보인다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word</a:t>
            </a:r>
            <a:r>
              <a:rPr lang="ko-KR" altLang="en-US" dirty="0"/>
              <a:t>방식 추가에 있어서 동일한 </a:t>
            </a:r>
            <a:r>
              <a:rPr lang="en-US" altLang="ko-KR" dirty="0"/>
              <a:t>word</a:t>
            </a:r>
            <a:r>
              <a:rPr lang="ko-KR" altLang="en-US" dirty="0"/>
              <a:t>를 막아도 </a:t>
            </a:r>
            <a:r>
              <a:rPr lang="en-US" altLang="ko-KR" dirty="0"/>
              <a:t>N=5</a:t>
            </a:r>
            <a:r>
              <a:rPr lang="ko-KR" altLang="en-US" dirty="0"/>
              <a:t>일때부터 초순열이 유일하지 않기</a:t>
            </a:r>
            <a:endParaRPr lang="en-US" altLang="ko-KR" dirty="0"/>
          </a:p>
          <a:p>
            <a:r>
              <a:rPr lang="ko-KR" altLang="en-US" dirty="0"/>
              <a:t>때문인 것일 수도 있으며 실제 선행 연구에서도 </a:t>
            </a:r>
            <a:r>
              <a:rPr lang="ko-KR" altLang="en-US" dirty="0" err="1"/>
              <a:t>단어간의</a:t>
            </a:r>
            <a:r>
              <a:rPr lang="ko-KR" altLang="en-US" dirty="0"/>
              <a:t> 거리차이가 미미하지만 최종적으로 </a:t>
            </a:r>
            <a:r>
              <a:rPr lang="ko-KR" altLang="en-US" dirty="0" err="1"/>
              <a:t>도달해야하는</a:t>
            </a:r>
            <a:endParaRPr lang="en-US" altLang="ko-KR" dirty="0"/>
          </a:p>
          <a:p>
            <a:r>
              <a:rPr lang="ko-KR" altLang="en-US" dirty="0"/>
              <a:t>거리가 늘어날 수 있는 </a:t>
            </a:r>
            <a:r>
              <a:rPr lang="en-US" altLang="ko-KR" dirty="0"/>
              <a:t>TSP</a:t>
            </a:r>
            <a:r>
              <a:rPr lang="ko-KR" altLang="en-US" dirty="0"/>
              <a:t>문제라는 것을 고려하면 이 </a:t>
            </a:r>
            <a:r>
              <a:rPr lang="ko-KR" altLang="en-US" dirty="0" err="1"/>
              <a:t>초순열</a:t>
            </a:r>
            <a:r>
              <a:rPr lang="ko-KR" altLang="en-US" dirty="0"/>
              <a:t> 문제가 가지고 있는 본질적인 어려움일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Symbolic</a:t>
            </a:r>
            <a:r>
              <a:rPr lang="ko-KR" altLang="en-US" dirty="0"/>
              <a:t>방식이 유효할 가능성이 있으므로 다음 실험을 진행하였다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9588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13F9-85C7-28BE-0DBA-0F22BB7D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5383C0-0DB9-36D7-B8DA-3CB5F4FAD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F7523F2-5B55-6FE0-BC02-9653A1E05869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n=6_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리워드 개선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symbolic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C94DD7D-14C7-69B7-24C1-5273FB0423E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pic>
        <p:nvPicPr>
          <p:cNvPr id="7" name="내용 개체 틀 6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70D94F-A120-644D-3CF4-D007BB6B4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9" y="2125736"/>
            <a:ext cx="3505010" cy="2336673"/>
          </a:xfrm>
        </p:spPr>
      </p:pic>
      <p:pic>
        <p:nvPicPr>
          <p:cNvPr id="9" name="그림 8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0CB30-31A9-EA70-5D2C-54848C7576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514" y="2095963"/>
            <a:ext cx="4427717" cy="2530124"/>
          </a:xfrm>
          <a:prstGeom prst="rect">
            <a:avLst/>
          </a:prstGeom>
        </p:spPr>
      </p:pic>
      <p:pic>
        <p:nvPicPr>
          <p:cNvPr id="11" name="그림 10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0985F0-AA9E-527F-0515-4F2721F6A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10" y="2005645"/>
            <a:ext cx="4299337" cy="2456764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794C8A3-F913-59B9-D03C-1D4DE1BEA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33473"/>
              </p:ext>
            </p:extLst>
          </p:nvPr>
        </p:nvGraphicFramePr>
        <p:xfrm>
          <a:off x="740922" y="5353358"/>
          <a:ext cx="8480899" cy="944880"/>
        </p:xfrm>
        <a:graphic>
          <a:graphicData uri="http://schemas.openxmlformats.org/drawingml/2006/table">
            <a:tbl>
              <a:tblPr/>
              <a:tblGrid>
                <a:gridCol w="1211557">
                  <a:extLst>
                    <a:ext uri="{9D8B030D-6E8A-4147-A177-3AD203B41FA5}">
                      <a16:colId xmlns:a16="http://schemas.microsoft.com/office/drawing/2014/main" val="3999851465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3326461054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3495257736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3777845576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3662883766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4256585796"/>
                    </a:ext>
                  </a:extLst>
                </a:gridCol>
                <a:gridCol w="1211557">
                  <a:extLst>
                    <a:ext uri="{9D8B030D-6E8A-4147-A177-3AD203B41FA5}">
                      <a16:colId xmlns:a16="http://schemas.microsoft.com/office/drawing/2014/main" val="3377759365"/>
                    </a:ext>
                  </a:extLst>
                </a:gridCol>
              </a:tblGrid>
              <a:tr h="4675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env_type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algo_name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coverage ratio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return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episode steps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 final length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rate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286567"/>
                  </a:ext>
                </a:extLst>
              </a:tr>
              <a:tr h="2953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ppo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0.582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1974.93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2161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772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374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3DFE-9327-020D-3F42-0C2C0798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6614A9-B1AE-E5FD-C308-1AE0DB9CF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3BD0A1E-24BF-6D6B-5537-4388C64526C7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n=6_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리워드 개선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symbolic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1DE41D-86AD-50D6-3C90-4D5DB90D69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8FB34A-0623-3168-D7DB-CE3328346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2" y="18739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이 경우 커버리지도 상승하며 긍정적인 추세를 보이나 최대 </a:t>
            </a:r>
            <a:r>
              <a:rPr lang="en-US" altLang="ko-KR" sz="2000" dirty="0"/>
              <a:t>872</a:t>
            </a:r>
            <a:r>
              <a:rPr lang="ko-KR" altLang="en-US" sz="2000" dirty="0"/>
              <a:t>길이의 </a:t>
            </a:r>
            <a:r>
              <a:rPr lang="ko-KR" altLang="en-US" sz="2000" dirty="0" err="1"/>
              <a:t>초순열이며</a:t>
            </a:r>
            <a:r>
              <a:rPr lang="ko-KR" altLang="en-US" sz="2000" dirty="0"/>
              <a:t> 순열이 모두 </a:t>
            </a:r>
            <a:r>
              <a:rPr lang="en-US" altLang="ko-KR" sz="2000" dirty="0"/>
              <a:t>6!=720 </a:t>
            </a:r>
            <a:r>
              <a:rPr lang="ko-KR" altLang="en-US" sz="2000" dirty="0"/>
              <a:t>가지이므로 겹치기엔 </a:t>
            </a:r>
            <a:r>
              <a:rPr lang="en-US" altLang="ko-KR" sz="2000" dirty="0" err="1"/>
              <a:t>time_step</a:t>
            </a:r>
            <a:r>
              <a:rPr lang="ko-KR" altLang="en-US" sz="2000" dirty="0"/>
              <a:t>이 너무 짧았을 수도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최대길이가 모두 동일한 것은 모든 시도가 최대 길이에 도달하여 에피소드가 </a:t>
            </a:r>
            <a:r>
              <a:rPr lang="ko-KR" altLang="en-US" sz="2000" dirty="0" err="1"/>
              <a:t>종료된것으로</a:t>
            </a:r>
            <a:r>
              <a:rPr lang="ko-KR" altLang="en-US" sz="2000" dirty="0"/>
              <a:t> 보이므로 </a:t>
            </a:r>
            <a:r>
              <a:rPr lang="en-US" altLang="ko-KR" sz="2000" dirty="0"/>
              <a:t>2200000</a:t>
            </a:r>
            <a:r>
              <a:rPr lang="ko-KR" altLang="en-US" sz="2000" dirty="0"/>
              <a:t>횟수의 </a:t>
            </a:r>
            <a:r>
              <a:rPr lang="en-US" altLang="ko-KR" sz="2000" dirty="0" err="1"/>
              <a:t>time_step</a:t>
            </a:r>
            <a:r>
              <a:rPr lang="ko-KR" altLang="en-US" sz="2000" dirty="0"/>
              <a:t>을 설정하였으나 </a:t>
            </a:r>
            <a:r>
              <a:rPr lang="en-US" altLang="ko-KR" sz="2000" dirty="0"/>
              <a:t>n=6</a:t>
            </a:r>
            <a:r>
              <a:rPr lang="ko-KR" altLang="en-US" sz="2000" dirty="0"/>
              <a:t>에 대해서는 너무 짧은 학습이었다는 판단이다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82694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891D-866C-BBEB-11D7-E5A00EC2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3B62D6-1CD3-EFF0-489E-958EC35FD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7FFA5EB-7CF1-F304-9845-147F875940BA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논의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6142B99-9DE5-23F8-791B-1158BC47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초반에는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greedy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방식이 효과적인 것을 보아 충분히 작은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은 매우 단순하다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작을 경우는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word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기반으로 초순열을 구성하는 것이 빠르며 효과적이지만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커지고 선택공간이 넓어지며 바로 앞에 이득이 너무 커지는 경향이 있어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큰 경우 그리 효과적이지 못하다는 결론을 낼 수 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의 경우는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action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그리 빠르게 커지지 않으며 탐사가 쉬워 비교적 높은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 대해서도 어느정도 효과를 냈지만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n=6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의 경우가 되어도 학습이 매우 커지고 무거워진다는 것이 아쉬운 점이었다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10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이나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8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만  되어도 학습에 필요한 시간이 매우 늘어날 것을 예측되어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 크지 않더라도 실제 최소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초순열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길이에 도달하기까지는 매우 긴 학습이 필요해 보인다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또한 이런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두번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선택해서는 안돼는 환경에서는 </a:t>
            </a:r>
            <a:r>
              <a:rPr lang="en-US" altLang="ko-KR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maskedppo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와 같은 추가적인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reward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제한 방식이 효과적임을 확인하였다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606885-A250-540F-13A2-C7568C13AC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95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E1AC-9EE6-E910-32ED-AA7A7260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84389A-DD19-CF09-3B17-B4A9D11E0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5927221A-56AC-3860-756D-74E5060911FC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한계점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066F601-DFCA-33F7-6F88-681E609A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상태 표현</a:t>
            </a:r>
            <a:r>
              <a:rPr lang="en-US" altLang="ko-KR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en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n!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크기의 </a:t>
            </a:r>
            <a:r>
              <a:rPr lang="en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state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를 사용하는 점</a:t>
            </a:r>
          </a:p>
          <a:p>
            <a:pPr marL="0" indent="0">
              <a:buNone/>
            </a:pP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학습 예산</a:t>
            </a:r>
            <a:r>
              <a:rPr lang="en-US" altLang="ko-KR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: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RTX4070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으로 학습이 매우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오래걸린다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pPr marL="0" indent="0">
              <a:buNone/>
            </a:pP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목표 미달</a:t>
            </a:r>
            <a:r>
              <a:rPr lang="en-US" altLang="ko-KR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: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최소길이까지 도달하게 하지 못함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충분한 시간을 들여 매우 길게 학습하여 확인하지 못한점이 이 프로젝트의 한계점이다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C19B1E7-CCF5-2662-C72C-773789F93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68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D60FE-3202-3E93-E329-8FD3E87F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804DED-4C0B-E6DA-E035-19D8A7EC5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E6DADD8-8F24-D52B-E56E-4EF3D17EDAF5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향후 연구 방향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C003ADB-F875-D99F-9B01-66951612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00" y="16128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RNN, Transformer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등을 사용한 시퀀스 인코딩을 하여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state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을 줄이기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작은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 대해 학습한 정보를 사용하여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n+1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 적용할 수 있는지 가능성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lvl="1"/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더 효과적인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Reward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설계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더 긴 </a:t>
            </a:r>
            <a:r>
              <a:rPr lang="en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timesteps,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더 많은 </a:t>
            </a:r>
            <a:r>
              <a:rPr lang="en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seed, 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분산 학습을 사용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임의의 초순열을 길이를 줄이는 액션으로 최소 초순열로 만들기</a:t>
            </a:r>
          </a:p>
          <a:p>
            <a:pPr lvl="1"/>
            <a:endParaRPr lang="ko-KR" altLang="en-US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FED0EF-37FA-25F7-D897-291596B451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58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1E62-53F0-6206-7AEC-2908C699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66C0BA-A6E9-9FE4-1540-B353A263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1ED749D-CFAB-4CDC-F389-E4C40722AD6C}"/>
              </a:ext>
            </a:extLst>
          </p:cNvPr>
          <p:cNvSpPr txBox="1">
            <a:spLocks/>
          </p:cNvSpPr>
          <p:nvPr/>
        </p:nvSpPr>
        <p:spPr>
          <a:xfrm>
            <a:off x="740922" y="38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49DF0F5-A74C-EB68-E371-7582F25A0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5087"/>
            <a:ext cx="10515600" cy="2015989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작지 않은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n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 대해서는 일반적인 강화학습만으로는 한계가 뚜렷하며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Word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방식은 학습 효율은 좋지만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local minimum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 빠질 가능성이 크고</a:t>
            </a:r>
            <a:endParaRPr lang="en-US" altLang="ko-KR" sz="1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Symbolic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은 추가적인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masking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은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필요없지만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학습이 </a:t>
            </a:r>
            <a:r>
              <a:rPr lang="ko-KR" altLang="en-US" sz="1800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비교적느리다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이런 순열을 만드는 문제에서는 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A2C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는 그리 좋은 접근이 아니며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PPO</a:t>
            </a:r>
            <a:r>
              <a:rPr lang="ko-KR" altLang="en-US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가 더 나은 성능을 보여주었다</a:t>
            </a:r>
            <a:r>
              <a:rPr lang="en-US" altLang="ko-KR" sz="18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312EA4-C287-0725-0830-666138E769C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20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AF1E-B8AD-CEEA-1BD7-1D926660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스크린샷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C3E5D2-6E4A-9C27-DFBB-4DFF67DBB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4" t="-1" b="199"/>
          <a:stretch>
            <a:fillRect/>
          </a:stretch>
        </p:blipFill>
        <p:spPr>
          <a:xfrm>
            <a:off x="5717628" y="0"/>
            <a:ext cx="6474372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25C89D-DC95-6782-2ABB-5E06D91AC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1681" y="2152879"/>
            <a:ext cx="9888638" cy="78939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Thank you for your attention</a:t>
            </a:r>
            <a:b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</a:b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B49A37-7AC6-D32A-95EA-F6C56CA8E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4263" y="2988568"/>
            <a:ext cx="6763473" cy="3212882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(Shortest Super-permutation as the Haruhi Problem: A Reinforcement Learning Approach)</a:t>
            </a: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120250131 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김범수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(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실험설계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)</a:t>
            </a:r>
          </a:p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120250133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 박성원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 (PPT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작성 및 자료조사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)</a:t>
            </a:r>
          </a:p>
          <a:p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DLaM Display" panose="02010000000000000000" pitchFamily="2" charset="0"/>
              </a:rPr>
              <a:t>서강대학교</a:t>
            </a:r>
            <a:endParaRPr lang="en-US" altLang="ko-KR" sz="1500" dirty="0">
              <a:latin typeface="Noto Sans KR" panose="020B0200000000000000" pitchFamily="50" charset="-127"/>
              <a:ea typeface="Noto Sans KR" panose="020B0200000000000000" pitchFamily="50" charset="-127"/>
              <a:cs typeface="ADLaM Display" panose="02010000000000000000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981DB6-E6E5-865A-ED38-91B089F9D7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1" y="6388556"/>
            <a:ext cx="1022267" cy="3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64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3316</Words>
  <Application>Microsoft Office PowerPoint</Application>
  <PresentationFormat>와이드스크린</PresentationFormat>
  <Paragraphs>851</Paragraphs>
  <Slides>41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Google Sans Text</vt:lpstr>
      <vt:lpstr>Noto Sans KR</vt:lpstr>
      <vt:lpstr>SOGANG UNIVERSITY</vt:lpstr>
      <vt:lpstr>맑은 고딕</vt:lpstr>
      <vt:lpstr>Arial</vt:lpstr>
      <vt:lpstr>Cambria Math</vt:lpstr>
      <vt:lpstr>Office 테마</vt:lpstr>
      <vt:lpstr>강화학습을 통한 초순열의 최소 길이 탐색</vt:lpstr>
      <vt:lpstr>PowerPoint 프레젠테이션</vt:lpstr>
      <vt:lpstr>프로젝트 주제 및 목표</vt:lpstr>
      <vt:lpstr>프로젝트 주제 및 목표</vt:lpstr>
      <vt:lpstr>프로젝트 주제 및 목표</vt:lpstr>
      <vt:lpstr>실험 환경</vt:lpstr>
      <vt:lpstr>실험 설정 </vt:lpstr>
      <vt:lpstr>실험 설정_환경 설계</vt:lpstr>
      <vt:lpstr>실험 설정_상태 설계</vt:lpstr>
      <vt:lpstr>환경 및 데이터셋 설명_행동 설계</vt:lpstr>
      <vt:lpstr>환경 및 데이터셋 설명_보상함수 설계</vt:lpstr>
      <vt:lpstr>환경 및 데이터셋 설명_에피소드 종료 조건</vt:lpstr>
      <vt:lpstr>환경 및 데이터셋 설명_Baseline 정책</vt:lpstr>
      <vt:lpstr>강화학습 알고리즘 선택</vt:lpstr>
      <vt:lpstr>강화학습 알고리즘 선택_Hyperparameter</vt:lpstr>
      <vt:lpstr>PowerPoint 프레젠테이션</vt:lpstr>
      <vt:lpstr>결과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박성원</dc:creator>
  <cp:lastModifiedBy>범수 김</cp:lastModifiedBy>
  <cp:revision>24</cp:revision>
  <cp:lastPrinted>2025-12-07T13:49:24Z</cp:lastPrinted>
  <dcterms:created xsi:type="dcterms:W3CDTF">2025-12-04T07:54:33Z</dcterms:created>
  <dcterms:modified xsi:type="dcterms:W3CDTF">2025-12-07T13:49:35Z</dcterms:modified>
</cp:coreProperties>
</file>